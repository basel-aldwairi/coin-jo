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_rels/theme10.xml.rels" ContentType="application/vnd.openxmlformats-package.relationships+xml"/>
  <Override PartName="/ppt/theme/_rels/theme1.xml.rels" ContentType="application/vnd.openxmlformats-package.relationships+xml"/>
  <Override PartName="/ppt/theme/_rels/theme9.xml.rels" ContentType="application/vnd.openxmlformats-package.relationships+xml"/>
  <Override PartName="/ppt/theme/_rels/theme8.xml.rels" ContentType="application/vnd.openxmlformats-package.relationships+xml"/>
  <Override PartName="/ppt/theme/_rels/theme7.xml.rels" ContentType="application/vnd.openxmlformats-package.relationships+xml"/>
  <Override PartName="/ppt/theme/_rels/theme6.xml.rels" ContentType="application/vnd.openxmlformats-package.relationships+xml"/>
  <Override PartName="/ppt/theme/_rels/theme5.xml.rels" ContentType="application/vnd.openxmlformats-package.relationships+xml"/>
  <Override PartName="/ppt/theme/_rels/theme4.xml.rels" ContentType="application/vnd.openxmlformats-package.relationships+xml"/>
  <Override PartName="/ppt/theme/_rels/theme3.xml.rels" ContentType="application/vnd.openxmlformats-package.relationships+xml"/>
  <Override PartName="/ppt/theme/_rels/theme2.xml.rels" ContentType="application/vnd.openxmlformats-package.relationships+xml"/>
  <Override PartName="/ppt/theme/_rels/theme11.xml.rels" ContentType="application/vnd.openxmlformats-package.relationships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_rels/presentation.xml.rels" ContentType="application/vnd.openxmlformats-package.relationships+xml"/>
  <Override PartName="/ppt/media/image29.png" ContentType="image/png"/>
  <Override PartName="/ppt/media/image42.jpeg" ContentType="image/jpeg"/>
  <Override PartName="/ppt/media/image28.png" ContentType="image/png"/>
  <Override PartName="/ppt/media/image27.png" ContentType="image/png"/>
  <Override PartName="/ppt/media/image26.png" ContentType="image/png"/>
  <Override PartName="/ppt/media/image25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41.jpeg" ContentType="image/jpeg"/>
  <Override PartName="/ppt/media/image1.jpeg" ContentType="image/jpeg"/>
  <Override PartName="/ppt/media/image10.png" ContentType="image/png"/>
  <Override PartName="/ppt/media/image15.png" ContentType="image/png"/>
  <Override PartName="/ppt/media/image18.png" ContentType="image/png"/>
  <Override PartName="/ppt/media/image9.png" ContentType="image/png"/>
  <Override PartName="/ppt/media/image20.png" ContentType="image/png"/>
  <Override PartName="/ppt/media/image13.png" ContentType="image/png"/>
  <Override PartName="/ppt/media/image36.png" ContentType="image/png"/>
  <Override PartName="/ppt/media/image4.png" ContentType="image/png"/>
  <Override PartName="/ppt/media/image12.png" ContentType="image/png"/>
  <Override PartName="/ppt/media/image44.jpeg" ContentType="image/jpeg"/>
  <Override PartName="/ppt/media/image30.png" ContentType="image/png"/>
  <Override PartName="/ppt/media/image31.png" ContentType="image/png"/>
  <Override PartName="/ppt/media/image32.png" ContentType="image/png"/>
  <Override PartName="/ppt/media/image33.png" ContentType="image/png"/>
  <Override PartName="/ppt/media/image40.jpeg" ContentType="image/jpeg"/>
  <Override PartName="/ppt/media/image3.png" ContentType="image/png"/>
  <Override PartName="/ppt/media/image35.png" ContentType="image/png"/>
  <Override PartName="/ppt/media/image8.png" ContentType="image/png"/>
  <Override PartName="/ppt/media/image17.png" ContentType="image/png"/>
  <Override PartName="/ppt/media/image11.png" ContentType="image/png"/>
  <Override PartName="/ppt/media/image2.png" ContentType="image/png"/>
  <Override PartName="/ppt/media/image34.png" ContentType="image/png"/>
  <Override PartName="/ppt/media/image43.jpeg" ContentType="image/jpeg"/>
  <Override PartName="/ppt/media/image39.png" ContentType="image/png"/>
  <Override PartName="/ppt/media/image7.png" ContentType="image/png"/>
  <Override PartName="/ppt/media/image16.png" ContentType="image/png"/>
  <Override PartName="/ppt/media/image37.png" ContentType="image/png"/>
  <Override PartName="/ppt/media/image5.png" ContentType="image/png"/>
  <Override PartName="/ppt/media/image14.png" ContentType="image/png"/>
  <Override PartName="/ppt/media/image38.png" ContentType="image/png"/>
  <Override PartName="/ppt/media/image6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22.xml" ContentType="application/vnd.openxmlformats-officedocument.presentationml.slide+xml"/>
  <Override PartName="/ppt/slides/slide34.xml" ContentType="application/vnd.openxmlformats-officedocument.presentationml.slide+xml"/>
  <Override PartName="/ppt/slides/slide23.xml" ContentType="application/vnd.openxmlformats-officedocument.presentationml.slide+xml"/>
  <Override PartName="/ppt/slides/slide35.xml" ContentType="application/vnd.openxmlformats-officedocument.presentationml.slide+xml"/>
  <Override PartName="/ppt/slides/slide24.xml" ContentType="application/vnd.openxmlformats-officedocument.presentationml.slide+xml"/>
  <Override PartName="/ppt/slides/slide36.xml" ContentType="application/vnd.openxmlformats-officedocument.presentationml.slide+xml"/>
  <Override PartName="/ppt/slides/slide25.xml" ContentType="application/vnd.openxmlformats-officedocument.presentationml.slide+xml"/>
  <Override PartName="/ppt/slides/slide37.xml" ContentType="application/vnd.openxmlformats-officedocument.presentationml.slide+xml"/>
  <Override PartName="/ppt/slides/_rels/slide16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17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34.xml.rels" ContentType="application/vnd.openxmlformats-package.relationships+xml"/>
  <Override PartName="/ppt/slides/_rels/slide33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32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.xml.rels" ContentType="application/vnd.openxmlformats-package.relationships+xml"/>
  <Override PartName="/ppt/slides/_rels/slide36.xml.rels" ContentType="application/vnd.openxmlformats-package.relationships+xml"/>
  <Override PartName="/ppt/slides/_rels/slide35.xml.rels" ContentType="application/vnd.openxmlformats-package.relationships+xml"/>
  <Override PartName="/ppt/slides/_rels/slide7.xml.rels" ContentType="application/vnd.openxmlformats-package.relationships+xml"/>
  <Override PartName="/ppt/slides/_rels/slide24.xml.rels" ContentType="application/vnd.openxmlformats-package.relationships+xml"/>
  <Override PartName="/ppt/slides/_rels/slide37.xml.rels" ContentType="application/vnd.openxmlformats-package.relationships+xml"/>
  <Override PartName="/ppt/slides/_rels/slide2.xml.rels" ContentType="application/vnd.openxmlformats-package.relationships+xml"/>
  <Override PartName="/ppt/slides/_rels/slide38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3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slide38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notesSlides/_rels/notesSlide19.xml.rels" ContentType="application/vnd.openxmlformats-package.relationships+xml"/>
  <Override PartName="/ppt/notesSlides/notesSlide1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  <p:sldId id="280" r:id="rId38"/>
    <p:sldId id="281" r:id="rId39"/>
    <p:sldId id="282" r:id="rId40"/>
    <p:sldId id="283" r:id="rId41"/>
    <p:sldId id="284" r:id="rId42"/>
    <p:sldId id="285" r:id="rId43"/>
    <p:sldId id="286" r:id="rId44"/>
    <p:sldId id="287" r:id="rId45"/>
    <p:sldId id="288" r:id="rId46"/>
    <p:sldId id="289" r:id="rId47"/>
    <p:sldId id="290" r:id="rId48"/>
    <p:sldId id="291" r:id="rId49"/>
    <p:sldId id="292" r:id="rId50"/>
    <p:sldId id="293" r:id="rId51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Relationship Id="rId38" Type="http://schemas.openxmlformats.org/officeDocument/2006/relationships/slide" Target="slides/slide25.xml"/><Relationship Id="rId39" Type="http://schemas.openxmlformats.org/officeDocument/2006/relationships/slide" Target="slides/slide26.xml"/><Relationship Id="rId40" Type="http://schemas.openxmlformats.org/officeDocument/2006/relationships/slide" Target="slides/slide27.xml"/><Relationship Id="rId41" Type="http://schemas.openxmlformats.org/officeDocument/2006/relationships/slide" Target="slides/slide28.xml"/><Relationship Id="rId42" Type="http://schemas.openxmlformats.org/officeDocument/2006/relationships/slide" Target="slides/slide29.xml"/><Relationship Id="rId43" Type="http://schemas.openxmlformats.org/officeDocument/2006/relationships/slide" Target="slides/slide30.xml"/><Relationship Id="rId44" Type="http://schemas.openxmlformats.org/officeDocument/2006/relationships/slide" Target="slides/slide31.xml"/><Relationship Id="rId45" Type="http://schemas.openxmlformats.org/officeDocument/2006/relationships/slide" Target="slides/slide32.xml"/><Relationship Id="rId46" Type="http://schemas.openxmlformats.org/officeDocument/2006/relationships/slide" Target="slides/slide33.xml"/><Relationship Id="rId47" Type="http://schemas.openxmlformats.org/officeDocument/2006/relationships/slide" Target="slides/slide34.xml"/><Relationship Id="rId48" Type="http://schemas.openxmlformats.org/officeDocument/2006/relationships/slide" Target="slides/slide35.xml"/><Relationship Id="rId49" Type="http://schemas.openxmlformats.org/officeDocument/2006/relationships/slide" Target="slides/slide36.xml"/><Relationship Id="rId50" Type="http://schemas.openxmlformats.org/officeDocument/2006/relationships/slide" Target="slides/slide37.xml"/><Relationship Id="rId51" Type="http://schemas.openxmlformats.org/officeDocument/2006/relationships/slide" Target="slides/slide38.xml"/><Relationship Id="rId52" Type="http://schemas.openxmlformats.org/officeDocument/2006/relationships/presProps" Target="presProps.xml"/>
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28AC33A-52F8-4B6A-B3FD-E313E3308FD3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F3D9530-8826-4DD4-97A3-5B77976B57C5}">
      <dgm:prSet/>
      <dgm:spPr/>
      <dgm:t>
        <a:bodyPr/>
        <a:lstStyle/>
        <a:p>
          <a:r>
            <a:rPr lang="en-US"/>
            <a:t>The mechanical system translates CNN predictions into physical coin sorting</a:t>
          </a:r>
        </a:p>
      </dgm:t>
    </dgm:pt>
    <dgm:pt modelId="{AC4BBB2C-AD24-4841-89F5-813C44A69E4D}" type="parTrans" cxnId="{A11A422E-16B3-40BA-885B-9F583EEAEE05}">
      <dgm:prSet/>
      <dgm:spPr/>
      <dgm:t>
        <a:bodyPr/>
        <a:lstStyle/>
        <a:p>
          <a:endParaRPr lang="en-US"/>
        </a:p>
      </dgm:t>
    </dgm:pt>
    <dgm:pt modelId="{5B65657D-750D-43E4-A3D5-371F75EB6811}" type="sibTrans" cxnId="{A11A422E-16B3-40BA-885B-9F583EEAEE05}">
      <dgm:prSet/>
      <dgm:spPr/>
      <dgm:t>
        <a:bodyPr/>
        <a:lstStyle/>
        <a:p>
          <a:endParaRPr lang="en-US"/>
        </a:p>
      </dgm:t>
    </dgm:pt>
    <dgm:pt modelId="{9C270C86-93AE-4D0D-B05D-7419AF05B80B}">
      <dgm:prSet/>
      <dgm:spPr/>
      <dgm:t>
        <a:bodyPr/>
        <a:lstStyle/>
        <a:p>
          <a:r>
            <a:rPr lang="en-US"/>
            <a:t>Composed of interior and exterior subsystems</a:t>
          </a:r>
        </a:p>
      </dgm:t>
    </dgm:pt>
    <dgm:pt modelId="{9BEB8B36-F46C-4DA0-AB92-BCC1E7DA407D}" type="parTrans" cxnId="{48231CBE-AE5D-4F70-901D-3CDA6CF73509}">
      <dgm:prSet/>
      <dgm:spPr/>
      <dgm:t>
        <a:bodyPr/>
        <a:lstStyle/>
        <a:p>
          <a:endParaRPr lang="en-US"/>
        </a:p>
      </dgm:t>
    </dgm:pt>
    <dgm:pt modelId="{F81963C0-13E2-4C70-8FFE-71ABCBA3FB82}" type="sibTrans" cxnId="{48231CBE-AE5D-4F70-901D-3CDA6CF73509}">
      <dgm:prSet/>
      <dgm:spPr/>
      <dgm:t>
        <a:bodyPr/>
        <a:lstStyle/>
        <a:p>
          <a:endParaRPr lang="en-US"/>
        </a:p>
      </dgm:t>
    </dgm:pt>
    <dgm:pt modelId="{BFF9FE51-3D74-4045-AF4F-D82A21926CA2}" type="pres">
      <dgm:prSet presAssocID="{828AC33A-52F8-4B6A-B3FD-E313E3308FD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166F7E2-6EFF-45B5-AE22-A8911AA9B441}" type="pres">
      <dgm:prSet presAssocID="{5F3D9530-8826-4DD4-97A3-5B77976B57C5}" presName="hierRoot1" presStyleCnt="0"/>
      <dgm:spPr/>
    </dgm:pt>
    <dgm:pt modelId="{92519A36-93F4-4751-8848-FEF1A3A7711E}" type="pres">
      <dgm:prSet presAssocID="{5F3D9530-8826-4DD4-97A3-5B77976B57C5}" presName="composite" presStyleCnt="0"/>
      <dgm:spPr/>
    </dgm:pt>
    <dgm:pt modelId="{F7B5F668-18FA-4738-B0E9-CD991B413B9E}" type="pres">
      <dgm:prSet presAssocID="{5F3D9530-8826-4DD4-97A3-5B77976B57C5}" presName="background" presStyleLbl="node0" presStyleIdx="0" presStyleCnt="2"/>
      <dgm:spPr/>
    </dgm:pt>
    <dgm:pt modelId="{42CB074B-CD6F-42DA-A9E0-98B067CFFDD6}" type="pres">
      <dgm:prSet presAssocID="{5F3D9530-8826-4DD4-97A3-5B77976B57C5}" presName="text" presStyleLbl="fgAcc0" presStyleIdx="0" presStyleCnt="2">
        <dgm:presLayoutVars>
          <dgm:chPref val="3"/>
        </dgm:presLayoutVars>
      </dgm:prSet>
      <dgm:spPr/>
    </dgm:pt>
    <dgm:pt modelId="{7206A9DB-7F4F-411C-9510-3613933EE63E}" type="pres">
      <dgm:prSet presAssocID="{5F3D9530-8826-4DD4-97A3-5B77976B57C5}" presName="hierChild2" presStyleCnt="0"/>
      <dgm:spPr/>
    </dgm:pt>
    <dgm:pt modelId="{56C445ED-41C8-4B83-846C-D0DA3EAC8861}" type="pres">
      <dgm:prSet presAssocID="{9C270C86-93AE-4D0D-B05D-7419AF05B80B}" presName="hierRoot1" presStyleCnt="0"/>
      <dgm:spPr/>
    </dgm:pt>
    <dgm:pt modelId="{B2DD8A25-47A4-474B-8B66-3295E687C758}" type="pres">
      <dgm:prSet presAssocID="{9C270C86-93AE-4D0D-B05D-7419AF05B80B}" presName="composite" presStyleCnt="0"/>
      <dgm:spPr/>
    </dgm:pt>
    <dgm:pt modelId="{04C26182-C44A-450A-8157-039FAAA80692}" type="pres">
      <dgm:prSet presAssocID="{9C270C86-93AE-4D0D-B05D-7419AF05B80B}" presName="background" presStyleLbl="node0" presStyleIdx="1" presStyleCnt="2"/>
      <dgm:spPr/>
    </dgm:pt>
    <dgm:pt modelId="{F5BA94AB-C5A3-4A75-934F-56FB476D5CFB}" type="pres">
      <dgm:prSet presAssocID="{9C270C86-93AE-4D0D-B05D-7419AF05B80B}" presName="text" presStyleLbl="fgAcc0" presStyleIdx="1" presStyleCnt="2">
        <dgm:presLayoutVars>
          <dgm:chPref val="3"/>
        </dgm:presLayoutVars>
      </dgm:prSet>
      <dgm:spPr/>
    </dgm:pt>
    <dgm:pt modelId="{31264770-7FA3-4A55-A2A8-59529B395A33}" type="pres">
      <dgm:prSet presAssocID="{9C270C86-93AE-4D0D-B05D-7419AF05B80B}" presName="hierChild2" presStyleCnt="0"/>
      <dgm:spPr/>
    </dgm:pt>
  </dgm:ptLst>
  <dgm:cxnLst>
    <dgm:cxn modelId="{A11A422E-16B3-40BA-885B-9F583EEAEE05}" srcId="{828AC33A-52F8-4B6A-B3FD-E313E3308FD3}" destId="{5F3D9530-8826-4DD4-97A3-5B77976B57C5}" srcOrd="0" destOrd="0" parTransId="{AC4BBB2C-AD24-4841-89F5-813C44A69E4D}" sibTransId="{5B65657D-750D-43E4-A3D5-371F75EB6811}"/>
    <dgm:cxn modelId="{EB3BB16A-DF67-4ADA-8F08-F22780ECBABD}" type="presOf" srcId="{828AC33A-52F8-4B6A-B3FD-E313E3308FD3}" destId="{BFF9FE51-3D74-4045-AF4F-D82A21926CA2}" srcOrd="0" destOrd="0" presId="urn:microsoft.com/office/officeart/2005/8/layout/hierarchy1"/>
    <dgm:cxn modelId="{48231CBE-AE5D-4F70-901D-3CDA6CF73509}" srcId="{828AC33A-52F8-4B6A-B3FD-E313E3308FD3}" destId="{9C270C86-93AE-4D0D-B05D-7419AF05B80B}" srcOrd="1" destOrd="0" parTransId="{9BEB8B36-F46C-4DA0-AB92-BCC1E7DA407D}" sibTransId="{F81963C0-13E2-4C70-8FFE-71ABCBA3FB82}"/>
    <dgm:cxn modelId="{8FA0C3C0-FE97-4CDF-9FEF-2A50A0BA981F}" type="presOf" srcId="{5F3D9530-8826-4DD4-97A3-5B77976B57C5}" destId="{42CB074B-CD6F-42DA-A9E0-98B067CFFDD6}" srcOrd="0" destOrd="0" presId="urn:microsoft.com/office/officeart/2005/8/layout/hierarchy1"/>
    <dgm:cxn modelId="{2E0771DB-CC16-43E5-BE52-F249D589D603}" type="presOf" srcId="{9C270C86-93AE-4D0D-B05D-7419AF05B80B}" destId="{F5BA94AB-C5A3-4A75-934F-56FB476D5CFB}" srcOrd="0" destOrd="0" presId="urn:microsoft.com/office/officeart/2005/8/layout/hierarchy1"/>
    <dgm:cxn modelId="{0B57D080-D36F-4788-823F-F4D5B9203BFD}" type="presParOf" srcId="{BFF9FE51-3D74-4045-AF4F-D82A21926CA2}" destId="{9166F7E2-6EFF-45B5-AE22-A8911AA9B441}" srcOrd="0" destOrd="0" presId="urn:microsoft.com/office/officeart/2005/8/layout/hierarchy1"/>
    <dgm:cxn modelId="{D40B2225-B325-4FA1-BD75-1811521D7E43}" type="presParOf" srcId="{9166F7E2-6EFF-45B5-AE22-A8911AA9B441}" destId="{92519A36-93F4-4751-8848-FEF1A3A7711E}" srcOrd="0" destOrd="0" presId="urn:microsoft.com/office/officeart/2005/8/layout/hierarchy1"/>
    <dgm:cxn modelId="{4C485AD4-B0D6-4388-9B0F-95D537FB7B42}" type="presParOf" srcId="{92519A36-93F4-4751-8848-FEF1A3A7711E}" destId="{F7B5F668-18FA-4738-B0E9-CD991B413B9E}" srcOrd="0" destOrd="0" presId="urn:microsoft.com/office/officeart/2005/8/layout/hierarchy1"/>
    <dgm:cxn modelId="{037CADD7-916E-4D3C-9B9B-7651344816AD}" type="presParOf" srcId="{92519A36-93F4-4751-8848-FEF1A3A7711E}" destId="{42CB074B-CD6F-42DA-A9E0-98B067CFFDD6}" srcOrd="1" destOrd="0" presId="urn:microsoft.com/office/officeart/2005/8/layout/hierarchy1"/>
    <dgm:cxn modelId="{50958F46-E9D3-4B35-A90F-7A7536A68F03}" type="presParOf" srcId="{9166F7E2-6EFF-45B5-AE22-A8911AA9B441}" destId="{7206A9DB-7F4F-411C-9510-3613933EE63E}" srcOrd="1" destOrd="0" presId="urn:microsoft.com/office/officeart/2005/8/layout/hierarchy1"/>
    <dgm:cxn modelId="{B66FC5E8-EC6A-4A7E-9A7A-5618FBD1A761}" type="presParOf" srcId="{BFF9FE51-3D74-4045-AF4F-D82A21926CA2}" destId="{56C445ED-41C8-4B83-846C-D0DA3EAC8861}" srcOrd="1" destOrd="0" presId="urn:microsoft.com/office/officeart/2005/8/layout/hierarchy1"/>
    <dgm:cxn modelId="{08E2CABB-2B5D-4DBD-BB40-819520ADB203}" type="presParOf" srcId="{56C445ED-41C8-4B83-846C-D0DA3EAC8861}" destId="{B2DD8A25-47A4-474B-8B66-3295E687C758}" srcOrd="0" destOrd="0" presId="urn:microsoft.com/office/officeart/2005/8/layout/hierarchy1"/>
    <dgm:cxn modelId="{C9D4A159-2793-442A-9F12-47B9B7884888}" type="presParOf" srcId="{B2DD8A25-47A4-474B-8B66-3295E687C758}" destId="{04C26182-C44A-450A-8157-039FAAA80692}" srcOrd="0" destOrd="0" presId="urn:microsoft.com/office/officeart/2005/8/layout/hierarchy1"/>
    <dgm:cxn modelId="{E5DBB31D-0D3F-4A5B-867C-24476CB6730D}" type="presParOf" srcId="{B2DD8A25-47A4-474B-8B66-3295E687C758}" destId="{F5BA94AB-C5A3-4A75-934F-56FB476D5CFB}" srcOrd="1" destOrd="0" presId="urn:microsoft.com/office/officeart/2005/8/layout/hierarchy1"/>
    <dgm:cxn modelId="{A6A82D7B-B35E-4788-B715-9EA38E0B2044}" type="presParOf" srcId="{56C445ED-41C8-4B83-846C-D0DA3EAC8861}" destId="{31264770-7FA3-4A55-A2A8-59529B395A3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B5F668-18FA-4738-B0E9-CD991B413B9E}">
      <dsp:nvSpPr>
        <dsp:cNvPr id="0" name=""/>
        <dsp:cNvSpPr/>
      </dsp:nvSpPr>
      <dsp:spPr>
        <a:xfrm>
          <a:off x="1186" y="469226"/>
          <a:ext cx="4164809" cy="264465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CB074B-CD6F-42DA-A9E0-98B067CFFDD6}">
      <dsp:nvSpPr>
        <dsp:cNvPr id="0" name=""/>
        <dsp:cNvSpPr/>
      </dsp:nvSpPr>
      <dsp:spPr>
        <a:xfrm>
          <a:off x="463943" y="908844"/>
          <a:ext cx="4164809" cy="26446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The mechanical system translates CNN predictions into physical coin sorting</a:t>
          </a:r>
        </a:p>
      </dsp:txBody>
      <dsp:txXfrm>
        <a:off x="541402" y="986303"/>
        <a:ext cx="4009891" cy="2489736"/>
      </dsp:txXfrm>
    </dsp:sp>
    <dsp:sp modelId="{04C26182-C44A-450A-8157-039FAAA80692}">
      <dsp:nvSpPr>
        <dsp:cNvPr id="0" name=""/>
        <dsp:cNvSpPr/>
      </dsp:nvSpPr>
      <dsp:spPr>
        <a:xfrm>
          <a:off x="5091509" y="469226"/>
          <a:ext cx="4164809" cy="264465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BA94AB-C5A3-4A75-934F-56FB476D5CFB}">
      <dsp:nvSpPr>
        <dsp:cNvPr id="0" name=""/>
        <dsp:cNvSpPr/>
      </dsp:nvSpPr>
      <dsp:spPr>
        <a:xfrm>
          <a:off x="5554265" y="908844"/>
          <a:ext cx="4164809" cy="26446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Composed of interior and exterior subsystems</a:t>
          </a:r>
        </a:p>
      </dsp:txBody>
      <dsp:txXfrm>
        <a:off x="5631724" y="986303"/>
        <a:ext cx="4009891" cy="24897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move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28A0508F-4125-4A46-87D2-2E568E563EA6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6ADDE18-861D-4598-BCCC-B0CC3C676FD7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8560" cy="149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024200" y="2286000"/>
            <a:ext cx="9718560" cy="402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F3362AE-6C89-47EC-8618-A3240DD9DBF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4789BE6-4A25-4F9B-B292-FB9649E923C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5578F80-FC62-486B-B4BC-5049C490CDE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8560" cy="149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1024200" y="2286000"/>
            <a:ext cx="9718560" cy="402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5230F552-5BE8-4B63-805C-22374BB729F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CBBA82A9-E251-4548-B2D0-9D20BB9B16F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8560" cy="149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1024200" y="2286000"/>
            <a:ext cx="4742640" cy="402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/>
          </p:nvPr>
        </p:nvSpPr>
        <p:spPr>
          <a:xfrm>
            <a:off x="6004440" y="2286000"/>
            <a:ext cx="4742640" cy="402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A1260754-EE3D-4AC7-9107-CDAF6B974F4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CC93C2E1-035F-4E93-91F3-8A73BEC370F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8560" cy="149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0C217069-68A6-4A4A-8534-A83CD5DA617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65108E03-0F9A-47F9-9EA8-D6C6B4A2364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1EFC0F9A-0146-4531-A06E-1A75D404CCE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9C9BE0BE-285F-4B52-83C0-D258FE72D0E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0" name="Straight Connector 7"/>
          <p:cNvCxnSpPr/>
          <p:nvPr/>
        </p:nvCxnSpPr>
        <p:spPr>
          <a:xfrm flipV="1">
            <a:off x="761760" y="826200"/>
            <a:ext cx="1440" cy="915840"/>
          </a:xfrm>
          <a:prstGeom prst="straightConnector1">
            <a:avLst/>
          </a:prstGeom>
          <a:ln w="19050">
            <a:solidFill>
              <a:srgbClr val="99cb38"/>
            </a:solidFill>
            <a:round/>
          </a:ln>
        </p:spPr>
      </p:cxnSp>
      <p:cxnSp>
        <p:nvCxnSpPr>
          <p:cNvPr id="1" name="Straight Connector 12"/>
          <p:cNvCxnSpPr/>
          <p:nvPr/>
        </p:nvCxnSpPr>
        <p:spPr>
          <a:xfrm flipV="1">
            <a:off x="8386560" y="5263920"/>
            <a:ext cx="1440" cy="915840"/>
          </a:xfrm>
          <a:prstGeom prst="straightConnector1">
            <a:avLst/>
          </a:prstGeom>
          <a:ln w="19050">
            <a:solidFill>
              <a:srgbClr val="99cb38"/>
            </a:solidFill>
            <a:round/>
          </a:ln>
        </p:spPr>
      </p:cxnSp>
      <p:sp>
        <p:nvSpPr>
          <p:cNvPr id="2" name="Rectangle 9"/>
          <p:cNvSpPr/>
          <p:nvPr/>
        </p:nvSpPr>
        <p:spPr>
          <a:xfrm>
            <a:off x="0" y="0"/>
            <a:ext cx="12190680" cy="4570560"/>
          </a:xfrm>
          <a:prstGeom prst="rect">
            <a:avLst/>
          </a:prstGeom>
          <a:blipFill rotWithShape="0">
            <a:blip r:embed="rId2"/>
            <a:srcRect/>
            <a:tile tx="1113710" ty="1219957" sx="49949" sy="49948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8560" cy="149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ftr" idx="1"/>
          </p:nvPr>
        </p:nvSpPr>
        <p:spPr>
          <a:xfrm>
            <a:off x="4843080" y="6470640"/>
            <a:ext cx="590004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sldNum" idx="2"/>
          </p:nvPr>
        </p:nvSpPr>
        <p:spPr>
          <a:xfrm>
            <a:off x="10837440" y="6470640"/>
            <a:ext cx="97236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0E88391B-8902-40ED-BE23-8D88851D030E}" type="slidenum">
              <a:rPr b="0" lang="en-US" sz="10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 Condensed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dt" idx="3"/>
          </p:nvPr>
        </p:nvSpPr>
        <p:spPr>
          <a:xfrm>
            <a:off x="1024200" y="6470640"/>
            <a:ext cx="215280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7"/>
          <p:cNvCxnSpPr/>
          <p:nvPr/>
        </p:nvCxnSpPr>
        <p:spPr>
          <a:xfrm flipV="1">
            <a:off x="761760" y="826200"/>
            <a:ext cx="1440" cy="915840"/>
          </a:xfrm>
          <a:prstGeom prst="straightConnector1">
            <a:avLst/>
          </a:prstGeom>
          <a:ln w="19050">
            <a:solidFill>
              <a:srgbClr val="99cb38"/>
            </a:solidFill>
            <a:round/>
          </a:ln>
        </p:spPr>
      </p:cxnSp>
      <p:sp>
        <p:nvSpPr>
          <p:cNvPr id="11" name="PlaceHolder 1"/>
          <p:cNvSpPr>
            <a:spLocks noGrp="1"/>
          </p:cNvSpPr>
          <p:nvPr>
            <p:ph type="ftr" idx="4"/>
          </p:nvPr>
        </p:nvSpPr>
        <p:spPr>
          <a:xfrm>
            <a:off x="4843080" y="6470640"/>
            <a:ext cx="590004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ldNum" idx="5"/>
          </p:nvPr>
        </p:nvSpPr>
        <p:spPr>
          <a:xfrm>
            <a:off x="10837440" y="6470640"/>
            <a:ext cx="97236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37C84512-E4AF-4326-A36A-7E2E0EBBBD9C}" type="slidenum">
              <a:rPr b="0" lang="en-US" sz="10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 Condensed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6"/>
          </p:nvPr>
        </p:nvSpPr>
        <p:spPr>
          <a:xfrm>
            <a:off x="1024200" y="6470640"/>
            <a:ext cx="215280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7"/>
          <p:cNvCxnSpPr/>
          <p:nvPr/>
        </p:nvCxnSpPr>
        <p:spPr>
          <a:xfrm flipV="1">
            <a:off x="761760" y="826200"/>
            <a:ext cx="1440" cy="915840"/>
          </a:xfrm>
          <a:prstGeom prst="straightConnector1">
            <a:avLst/>
          </a:prstGeom>
          <a:ln w="19050">
            <a:solidFill>
              <a:srgbClr val="99cb38"/>
            </a:solidFill>
            <a:round/>
          </a:ln>
        </p:spPr>
      </p:cxnSp>
      <p:cxnSp>
        <p:nvCxnSpPr>
          <p:cNvPr id="15" name="Straight Connector 6"/>
          <p:cNvCxnSpPr/>
          <p:nvPr/>
        </p:nvCxnSpPr>
        <p:spPr>
          <a:xfrm>
            <a:off x="9601200" y="516240"/>
            <a:ext cx="915840" cy="1440"/>
          </a:xfrm>
          <a:prstGeom prst="straightConnector1">
            <a:avLst/>
          </a:prstGeom>
          <a:ln w="19050">
            <a:solidFill>
              <a:srgbClr val="99cb38"/>
            </a:solidFill>
            <a:round/>
          </a:ln>
        </p:spPr>
      </p:cxnSp>
      <p:sp>
        <p:nvSpPr>
          <p:cNvPr id="16" name="PlaceHolder 1"/>
          <p:cNvSpPr>
            <a:spLocks noGrp="1"/>
          </p:cNvSpPr>
          <p:nvPr>
            <p:ph type="ftr" idx="7"/>
          </p:nvPr>
        </p:nvSpPr>
        <p:spPr>
          <a:xfrm>
            <a:off x="4843080" y="6470640"/>
            <a:ext cx="590004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sldNum" idx="8"/>
          </p:nvPr>
        </p:nvSpPr>
        <p:spPr>
          <a:xfrm>
            <a:off x="10837440" y="6470640"/>
            <a:ext cx="97236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D5F1F764-8523-456E-885F-799A1B86AEAB}" type="slidenum">
              <a:rPr b="0" lang="en-US" sz="10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 Condensed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9"/>
          </p:nvPr>
        </p:nvSpPr>
        <p:spPr>
          <a:xfrm>
            <a:off x="1024200" y="6470640"/>
            <a:ext cx="215280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7"/>
          <p:cNvCxnSpPr/>
          <p:nvPr/>
        </p:nvCxnSpPr>
        <p:spPr>
          <a:xfrm flipV="1">
            <a:off x="761760" y="826200"/>
            <a:ext cx="1440" cy="915840"/>
          </a:xfrm>
          <a:prstGeom prst="straightConnector1">
            <a:avLst/>
          </a:prstGeom>
          <a:ln w="19050">
            <a:solidFill>
              <a:srgbClr val="99cb38"/>
            </a:solidFill>
            <a:round/>
          </a:ln>
        </p:spPr>
      </p:cxn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8560" cy="149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1024200" y="2286000"/>
            <a:ext cx="9718560" cy="402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ftr" idx="10"/>
          </p:nvPr>
        </p:nvSpPr>
        <p:spPr>
          <a:xfrm>
            <a:off x="4843080" y="6470640"/>
            <a:ext cx="590004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sldNum" idx="11"/>
          </p:nvPr>
        </p:nvSpPr>
        <p:spPr>
          <a:xfrm>
            <a:off x="10837440" y="6470640"/>
            <a:ext cx="97236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5E0472FC-48A6-4E38-88CD-D12781674E1C}" type="slidenum">
              <a:rPr b="0" lang="en-US" sz="10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 Condensed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dt" idx="12"/>
          </p:nvPr>
        </p:nvSpPr>
        <p:spPr>
          <a:xfrm>
            <a:off x="1024200" y="6470640"/>
            <a:ext cx="215280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Straight Connector 7"/>
          <p:cNvCxnSpPr/>
          <p:nvPr/>
        </p:nvCxnSpPr>
        <p:spPr>
          <a:xfrm flipV="1">
            <a:off x="761760" y="826200"/>
            <a:ext cx="1440" cy="915840"/>
          </a:xfrm>
          <a:prstGeom prst="straightConnector1">
            <a:avLst/>
          </a:prstGeom>
          <a:ln w="19050">
            <a:solidFill>
              <a:srgbClr val="99cb38"/>
            </a:solidFill>
            <a:round/>
          </a:ln>
        </p:spPr>
      </p:cxnSp>
      <p:cxnSp>
        <p:nvCxnSpPr>
          <p:cNvPr id="28" name="Straight Connector 11"/>
          <p:cNvCxnSpPr/>
          <p:nvPr/>
        </p:nvCxnSpPr>
        <p:spPr>
          <a:xfrm flipV="1">
            <a:off x="8386560" y="5263920"/>
            <a:ext cx="1440" cy="915840"/>
          </a:xfrm>
          <a:prstGeom prst="straightConnector1">
            <a:avLst/>
          </a:prstGeom>
          <a:ln w="19050">
            <a:solidFill>
              <a:srgbClr val="e6d024"/>
            </a:solidFill>
            <a:round/>
          </a:ln>
        </p:spPr>
      </p:cxnSp>
      <p:sp>
        <p:nvSpPr>
          <p:cNvPr id="29" name="Rectangle 12"/>
          <p:cNvSpPr/>
          <p:nvPr/>
        </p:nvSpPr>
        <p:spPr>
          <a:xfrm>
            <a:off x="0" y="0"/>
            <a:ext cx="12190680" cy="4570560"/>
          </a:xfrm>
          <a:prstGeom prst="rect">
            <a:avLst/>
          </a:prstGeom>
          <a:blipFill rotWithShape="0">
            <a:blip r:embed="rId2"/>
            <a:srcRect/>
            <a:tile tx="1113710" ty="1219957" sx="49949" sy="49948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ftr" idx="13"/>
          </p:nvPr>
        </p:nvSpPr>
        <p:spPr>
          <a:xfrm>
            <a:off x="4843080" y="6470640"/>
            <a:ext cx="590004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sldNum" idx="14"/>
          </p:nvPr>
        </p:nvSpPr>
        <p:spPr>
          <a:xfrm>
            <a:off x="10837440" y="6470640"/>
            <a:ext cx="97236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9174924B-EA85-4DF4-9A13-EE7BCBC04132}" type="slidenum">
              <a:rPr b="0" lang="en-US" sz="10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 Condensed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dt" idx="15"/>
          </p:nvPr>
        </p:nvSpPr>
        <p:spPr>
          <a:xfrm>
            <a:off x="1024200" y="6470640"/>
            <a:ext cx="215280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7"/>
          <p:cNvCxnSpPr/>
          <p:nvPr/>
        </p:nvCxnSpPr>
        <p:spPr>
          <a:xfrm flipV="1">
            <a:off x="761760" y="826200"/>
            <a:ext cx="1440" cy="915840"/>
          </a:xfrm>
          <a:prstGeom prst="straightConnector1">
            <a:avLst/>
          </a:prstGeom>
          <a:ln w="19050">
            <a:solidFill>
              <a:srgbClr val="99cb38"/>
            </a:solidFill>
            <a:round/>
          </a:ln>
        </p:spPr>
      </p:cxn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8560" cy="149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1024200" y="2286000"/>
            <a:ext cx="4742280" cy="402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6004440" y="2286000"/>
            <a:ext cx="4742280" cy="402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ftr" idx="16"/>
          </p:nvPr>
        </p:nvSpPr>
        <p:spPr>
          <a:xfrm>
            <a:off x="4843080" y="6470640"/>
            <a:ext cx="590004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sldNum" idx="17"/>
          </p:nvPr>
        </p:nvSpPr>
        <p:spPr>
          <a:xfrm>
            <a:off x="10837440" y="6470640"/>
            <a:ext cx="97236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AA103D2D-1212-4641-BF11-E0B613DBC40D}" type="slidenum">
              <a:rPr b="0" lang="en-US" sz="10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 Condensed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dt" idx="18"/>
          </p:nvPr>
        </p:nvSpPr>
        <p:spPr>
          <a:xfrm>
            <a:off x="1024200" y="6470640"/>
            <a:ext cx="215280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Straight Connector 7"/>
          <p:cNvCxnSpPr/>
          <p:nvPr/>
        </p:nvCxnSpPr>
        <p:spPr>
          <a:xfrm flipV="1">
            <a:off x="761760" y="826200"/>
            <a:ext cx="1440" cy="915840"/>
          </a:xfrm>
          <a:prstGeom prst="straightConnector1">
            <a:avLst/>
          </a:prstGeom>
          <a:ln w="19050">
            <a:solidFill>
              <a:srgbClr val="99cb38"/>
            </a:solidFill>
            <a:round/>
          </a:ln>
        </p:spPr>
      </p:cxnSp>
      <p:sp>
        <p:nvSpPr>
          <p:cNvPr id="44" name="PlaceHolder 1"/>
          <p:cNvSpPr>
            <a:spLocks noGrp="1"/>
          </p:cNvSpPr>
          <p:nvPr>
            <p:ph type="ftr" idx="19"/>
          </p:nvPr>
        </p:nvSpPr>
        <p:spPr>
          <a:xfrm>
            <a:off x="4843080" y="6470640"/>
            <a:ext cx="590004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0"/>
          </p:nvPr>
        </p:nvSpPr>
        <p:spPr>
          <a:xfrm>
            <a:off x="10837440" y="6470640"/>
            <a:ext cx="97236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3558BA73-A0C2-4FD4-ABA9-080A84F0A0C4}" type="slidenum">
              <a:rPr b="0" lang="en-US" sz="10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 Condensed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21"/>
          </p:nvPr>
        </p:nvSpPr>
        <p:spPr>
          <a:xfrm>
            <a:off x="1024200" y="6470640"/>
            <a:ext cx="215280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Straight Connector 7"/>
          <p:cNvCxnSpPr/>
          <p:nvPr/>
        </p:nvCxnSpPr>
        <p:spPr>
          <a:xfrm flipV="1">
            <a:off x="761760" y="826200"/>
            <a:ext cx="1440" cy="915840"/>
          </a:xfrm>
          <a:prstGeom prst="straightConnector1">
            <a:avLst/>
          </a:prstGeom>
          <a:ln w="19050">
            <a:solidFill>
              <a:srgbClr val="99cb38"/>
            </a:solidFill>
            <a:round/>
          </a:ln>
        </p:spPr>
      </p:cxnSp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8560" cy="149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2"/>
          </p:nvPr>
        </p:nvSpPr>
        <p:spPr>
          <a:xfrm>
            <a:off x="4843080" y="6470640"/>
            <a:ext cx="590004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3"/>
          </p:nvPr>
        </p:nvSpPr>
        <p:spPr>
          <a:xfrm>
            <a:off x="10837440" y="6470640"/>
            <a:ext cx="97236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952F1581-4B67-497F-A78D-08E11A75B540}" type="slidenum">
              <a:rPr b="0" lang="en-US" sz="10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 Condensed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dt" idx="24"/>
          </p:nvPr>
        </p:nvSpPr>
        <p:spPr>
          <a:xfrm>
            <a:off x="1024200" y="6470640"/>
            <a:ext cx="215280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Straight Connector 7"/>
          <p:cNvCxnSpPr/>
          <p:nvPr/>
        </p:nvCxnSpPr>
        <p:spPr>
          <a:xfrm flipV="1">
            <a:off x="761760" y="826200"/>
            <a:ext cx="1440" cy="915840"/>
          </a:xfrm>
          <a:prstGeom prst="straightConnector1">
            <a:avLst/>
          </a:prstGeom>
          <a:ln w="19050">
            <a:solidFill>
              <a:srgbClr val="99cb38"/>
            </a:solidFill>
            <a:round/>
          </a:ln>
        </p:spPr>
      </p:cxnSp>
      <p:sp>
        <p:nvSpPr>
          <p:cNvPr id="56" name="PlaceHolder 1"/>
          <p:cNvSpPr>
            <a:spLocks noGrp="1"/>
          </p:cNvSpPr>
          <p:nvPr>
            <p:ph type="ftr" idx="25"/>
          </p:nvPr>
        </p:nvSpPr>
        <p:spPr>
          <a:xfrm>
            <a:off x="4843080" y="6470640"/>
            <a:ext cx="590004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sldNum" idx="26"/>
          </p:nvPr>
        </p:nvSpPr>
        <p:spPr>
          <a:xfrm>
            <a:off x="10837440" y="6470640"/>
            <a:ext cx="97236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12ADB964-DFE5-4204-A721-6499B1DE4D82}" type="slidenum">
              <a:rPr b="0" lang="en-US" sz="10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 Condensed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dt" idx="27"/>
          </p:nvPr>
        </p:nvSpPr>
        <p:spPr>
          <a:xfrm>
            <a:off x="1024200" y="6470640"/>
            <a:ext cx="215280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" name="Straight Connector 7"/>
          <p:cNvCxnSpPr/>
          <p:nvPr/>
        </p:nvCxnSpPr>
        <p:spPr>
          <a:xfrm flipV="1">
            <a:off x="761760" y="826200"/>
            <a:ext cx="1440" cy="915840"/>
          </a:xfrm>
          <a:prstGeom prst="straightConnector1">
            <a:avLst/>
          </a:prstGeom>
          <a:ln w="19050">
            <a:solidFill>
              <a:srgbClr val="99cb38"/>
            </a:solidFill>
            <a:round/>
          </a:ln>
        </p:spPr>
      </p:cxnSp>
      <p:sp>
        <p:nvSpPr>
          <p:cNvPr id="60" name="PlaceHolder 1"/>
          <p:cNvSpPr>
            <a:spLocks noGrp="1"/>
          </p:cNvSpPr>
          <p:nvPr>
            <p:ph type="ftr" idx="28"/>
          </p:nvPr>
        </p:nvSpPr>
        <p:spPr>
          <a:xfrm>
            <a:off x="4843080" y="6470640"/>
            <a:ext cx="590004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ldNum" idx="29"/>
          </p:nvPr>
        </p:nvSpPr>
        <p:spPr>
          <a:xfrm>
            <a:off x="10837440" y="6470640"/>
            <a:ext cx="97236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7D154D56-30D6-490B-9ABF-830C10FE5054}" type="slidenum">
              <a:rPr b="0" lang="en-US" sz="10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 Condensed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dt" idx="30"/>
          </p:nvPr>
        </p:nvSpPr>
        <p:spPr>
          <a:xfrm>
            <a:off x="1024200" y="6470640"/>
            <a:ext cx="215280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" name="Straight Connector 7"/>
          <p:cNvCxnSpPr/>
          <p:nvPr/>
        </p:nvCxnSpPr>
        <p:spPr>
          <a:xfrm flipV="1">
            <a:off x="761760" y="826200"/>
            <a:ext cx="1440" cy="915840"/>
          </a:xfrm>
          <a:prstGeom prst="straightConnector1">
            <a:avLst/>
          </a:prstGeom>
          <a:ln w="19050">
            <a:solidFill>
              <a:srgbClr val="99cb38"/>
            </a:solidFill>
            <a:round/>
          </a:ln>
        </p:spPr>
      </p:cxnSp>
      <p:cxnSp>
        <p:nvCxnSpPr>
          <p:cNvPr id="64" name="Straight Connector 7"/>
          <p:cNvCxnSpPr/>
          <p:nvPr/>
        </p:nvCxnSpPr>
        <p:spPr>
          <a:xfrm flipV="1">
            <a:off x="8386560" y="5263920"/>
            <a:ext cx="1440" cy="915840"/>
          </a:xfrm>
          <a:prstGeom prst="straightConnector1">
            <a:avLst/>
          </a:prstGeom>
          <a:ln w="19050">
            <a:solidFill>
              <a:srgbClr val="99cb38"/>
            </a:solidFill>
            <a:round/>
          </a:ln>
        </p:spPr>
      </p:cxnSp>
      <p:sp>
        <p:nvSpPr>
          <p:cNvPr id="65" name="PlaceHolder 1"/>
          <p:cNvSpPr>
            <a:spLocks noGrp="1"/>
          </p:cNvSpPr>
          <p:nvPr>
            <p:ph type="ftr" idx="31"/>
          </p:nvPr>
        </p:nvSpPr>
        <p:spPr>
          <a:xfrm>
            <a:off x="4843080" y="6470640"/>
            <a:ext cx="590004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sldNum" idx="32"/>
          </p:nvPr>
        </p:nvSpPr>
        <p:spPr>
          <a:xfrm>
            <a:off x="10837440" y="6470640"/>
            <a:ext cx="97236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2CB9D923-4958-42B6-8499-0E21D8F12324}" type="slidenum">
              <a:rPr b="0" lang="en-US" sz="10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 Condensed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dt" idx="33"/>
          </p:nvPr>
        </p:nvSpPr>
        <p:spPr>
          <a:xfrm>
            <a:off x="1024200" y="6470640"/>
            <a:ext cx="2152800" cy="27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4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4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Relationship Id="rId9" Type="http://schemas.openxmlformats.org/officeDocument/2006/relationships/image" Target="../media/image35.png"/><Relationship Id="rId10" Type="http://schemas.openxmlformats.org/officeDocument/2006/relationships/slideLayout" Target="../slideLayouts/slideLayout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image" Target="../media/image37.png"/><Relationship Id="rId3" Type="http://schemas.openxmlformats.org/officeDocument/2006/relationships/slideLayout" Target="../slideLayouts/slideLayout4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image" Target="../media/image39.png"/><Relationship Id="rId3" Type="http://schemas.openxmlformats.org/officeDocument/2006/relationships/slideLayout" Target="../slideLayouts/slideLayout4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diagramData" Target="../diagrams/data1.xml"/><Relationship Id="rId2" Type="http://schemas.openxmlformats.org/officeDocument/2006/relationships/diagramLayout" Target="../diagrams/layout1.xml"/><Relationship Id="rId3" Type="http://schemas.openxmlformats.org/officeDocument/2006/relationships/diagramQuickStyle" Target="../diagrams/quickStyle1.xml"/><Relationship Id="rId4" Type="http://schemas.openxmlformats.org/officeDocument/2006/relationships/diagramColors" Target="../diagrams/colors1.xml"/><Relationship Id="rId5" Type="http://schemas.microsoft.com/office/2007/relationships/diagramDrawing" Target="../diagrams/drawing1.xml"/><Relationship Id="rId6" Type="http://schemas.openxmlformats.org/officeDocument/2006/relationships/slideLayout" Target="../slideLayouts/slideLayout4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40.jpeg"/><Relationship Id="rId2" Type="http://schemas.openxmlformats.org/officeDocument/2006/relationships/image" Target="../media/image41.jpeg"/><Relationship Id="rId3" Type="http://schemas.openxmlformats.org/officeDocument/2006/relationships/slideLayout" Target="../slideLayouts/slideLayout4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42.jpeg"/><Relationship Id="rId2" Type="http://schemas.openxmlformats.org/officeDocument/2006/relationships/slideLayout" Target="../slideLayouts/slideLayout4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43.jpeg"/><Relationship Id="rId2" Type="http://schemas.openxmlformats.org/officeDocument/2006/relationships/slideLayout" Target="../slideLayouts/slideLayout4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44.jpeg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4960080"/>
            <a:ext cx="7770960" cy="1461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4000" spc="191" strike="noStrike" cap="all">
                <a:solidFill>
                  <a:schemeClr val="dk1">
                    <a:lumMod val="95000"/>
                    <a:lumOff val="5000"/>
                  </a:schemeClr>
                </a:solidFill>
                <a:latin typeface="Aptos Narrow"/>
              </a:rPr>
              <a:t>Image processing (ce461)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ubTitle"/>
          </p:nvPr>
        </p:nvSpPr>
        <p:spPr>
          <a:xfrm>
            <a:off x="8610480" y="4960080"/>
            <a:ext cx="3198960" cy="1461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100000"/>
              </a:lnSpc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"/>
              </a:rPr>
              <a:t>I</a:t>
            </a:r>
            <a:r>
              <a:rPr b="0" lang="en-US" sz="18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"/>
              </a:rPr>
              <a:t>m</a:t>
            </a:r>
            <a:r>
              <a:rPr b="0" lang="en-US" sz="18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"/>
              </a:rPr>
              <a:t>a</a:t>
            </a:r>
            <a:r>
              <a:rPr b="0" lang="en-US" sz="18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"/>
              </a:rPr>
              <a:t>g</a:t>
            </a:r>
            <a:r>
              <a:rPr b="0" lang="en-US" sz="18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"/>
              </a:rPr>
              <a:t>e</a:t>
            </a:r>
            <a:r>
              <a:rPr b="0" lang="en-US" sz="18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"/>
              </a:rPr>
              <a:t> </a:t>
            </a:r>
            <a:r>
              <a:rPr b="0" lang="en-US" sz="18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"/>
              </a:rPr>
              <a:t>P</a:t>
            </a:r>
            <a:r>
              <a:rPr b="0" lang="en-US" sz="18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"/>
              </a:rPr>
              <a:t>r</a:t>
            </a:r>
            <a:r>
              <a:rPr b="0" lang="en-US" sz="18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"/>
              </a:rPr>
              <a:t>o</a:t>
            </a:r>
            <a:r>
              <a:rPr b="0" lang="en-US" sz="18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"/>
              </a:rPr>
              <a:t>c</a:t>
            </a:r>
            <a:r>
              <a:rPr b="0" lang="en-US" sz="18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"/>
              </a:rPr>
              <a:t>e</a:t>
            </a:r>
            <a:r>
              <a:rPr b="0" lang="en-US" sz="18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"/>
              </a:rPr>
              <a:t>s</a:t>
            </a:r>
            <a:r>
              <a:rPr b="0" lang="en-US" sz="18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"/>
              </a:rPr>
              <a:t>s</a:t>
            </a:r>
            <a:r>
              <a:rPr b="0" lang="en-US" sz="18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"/>
              </a:rPr>
              <a:t>i</a:t>
            </a:r>
            <a:r>
              <a:rPr b="0" lang="en-US" sz="18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"/>
              </a:rPr>
              <a:t>n</a:t>
            </a:r>
            <a:r>
              <a:rPr b="0" lang="en-US" sz="18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"/>
              </a:rPr>
              <a:t>g</a:t>
            </a:r>
            <a:r>
              <a:rPr b="0" lang="en-US" sz="18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"/>
              </a:rPr>
              <a:t> </a:t>
            </a:r>
            <a:r>
              <a:rPr b="0" lang="en-US" sz="18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"/>
              </a:rPr>
              <a:t>&amp;</a:t>
            </a:r>
            <a:r>
              <a:rPr b="0" lang="en-US" sz="18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"/>
              </a:rPr>
              <a:t> </a:t>
            </a:r>
            <a:r>
              <a:rPr b="0" lang="en-US" sz="18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"/>
              </a:rPr>
              <a:t>D</a:t>
            </a:r>
            <a:r>
              <a:rPr b="0" lang="en-US" sz="18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"/>
              </a:rPr>
              <a:t>e</a:t>
            </a:r>
            <a:r>
              <a:rPr b="0" lang="en-US" sz="18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"/>
              </a:rPr>
              <a:t>e</a:t>
            </a:r>
            <a:r>
              <a:rPr b="0" lang="en-US" sz="18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"/>
              </a:rPr>
              <a:t>p</a:t>
            </a:r>
            <a:r>
              <a:rPr b="0" lang="en-US" sz="18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"/>
              </a:rPr>
              <a:t> </a:t>
            </a:r>
            <a:r>
              <a:rPr b="0" lang="en-US" sz="18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"/>
              </a:rPr>
              <a:t>L</a:t>
            </a:r>
            <a:r>
              <a:rPr b="0" lang="en-US" sz="18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"/>
              </a:rPr>
              <a:t>e</a:t>
            </a:r>
            <a:r>
              <a:rPr b="0" lang="en-US" sz="18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"/>
              </a:rPr>
              <a:t>a</a:t>
            </a:r>
            <a:r>
              <a:rPr b="0" lang="en-US" sz="18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"/>
              </a:rPr>
              <a:t>r</a:t>
            </a:r>
            <a:r>
              <a:rPr b="0" lang="en-US" sz="18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"/>
              </a:rPr>
              <a:t>n</a:t>
            </a:r>
            <a:r>
              <a:rPr b="0" lang="en-US" sz="18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"/>
              </a:rPr>
              <a:t>i</a:t>
            </a:r>
            <a:r>
              <a:rPr b="0" lang="en-US" sz="18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"/>
              </a:rPr>
              <a:t>n</a:t>
            </a:r>
            <a:r>
              <a:rPr b="0" lang="en-US" sz="18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"/>
              </a:rPr>
              <a:t>g</a:t>
            </a:r>
            <a:r>
              <a:rPr b="0" lang="en-US" sz="18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"/>
              </a:rPr>
              <a:t> </a:t>
            </a:r>
            <a:r>
              <a:rPr b="0" lang="en-US" sz="18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"/>
              </a:rPr>
              <a:t>C</a:t>
            </a:r>
            <a:r>
              <a:rPr b="0" lang="en-US" sz="18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"/>
              </a:rPr>
              <a:t>o</a:t>
            </a:r>
            <a:r>
              <a:rPr b="0" lang="en-US" sz="18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"/>
              </a:rPr>
              <a:t>i</a:t>
            </a:r>
            <a:r>
              <a:rPr b="0" lang="en-US" sz="18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"/>
              </a:rPr>
              <a:t>n</a:t>
            </a:r>
            <a:r>
              <a:rPr b="0" lang="en-US" sz="18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"/>
              </a:rPr>
              <a:t> </a:t>
            </a:r>
            <a:r>
              <a:rPr b="0" lang="en-US" sz="18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"/>
              </a:rPr>
              <a:t>S</a:t>
            </a:r>
            <a:r>
              <a:rPr b="0" lang="en-US" sz="18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"/>
              </a:rPr>
              <a:t>o</a:t>
            </a:r>
            <a:r>
              <a:rPr b="0" lang="en-US" sz="18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"/>
              </a:rPr>
              <a:t>r</a:t>
            </a:r>
            <a:r>
              <a:rPr b="0" lang="en-US" sz="18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"/>
              </a:rPr>
              <a:t>t</a:t>
            </a:r>
            <a:r>
              <a:rPr b="0" lang="en-US" sz="18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"/>
              </a:rPr>
              <a:t>e</a:t>
            </a:r>
            <a:r>
              <a:rPr b="0" lang="en-US" sz="18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"/>
              </a:rPr>
              <a:t>r</a:t>
            </a:r>
            <a:r>
              <a:rPr b="0" lang="en-US" sz="18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"/>
              </a:rPr>
              <a:t>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spcAft>
                <a:spcPts val="201"/>
              </a:spcAft>
              <a:buNone/>
              <a:tabLst>
                <a:tab algn="l" pos="0"/>
              </a:tabLst>
            </a:pPr>
            <a:r>
              <a:rPr b="1" i="1" lang="en-US" sz="40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"/>
              </a:rPr>
              <a:t>“</a:t>
            </a:r>
            <a:r>
              <a:rPr b="1" i="1" lang="en-US" sz="40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"/>
              </a:rPr>
              <a:t>C</a:t>
            </a:r>
            <a:r>
              <a:rPr b="1" i="1" lang="en-US" sz="40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"/>
              </a:rPr>
              <a:t>o</a:t>
            </a:r>
            <a:r>
              <a:rPr b="1" i="1" lang="en-US" sz="40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"/>
              </a:rPr>
              <a:t>i</a:t>
            </a:r>
            <a:r>
              <a:rPr b="1" i="1" lang="en-US" sz="40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"/>
              </a:rPr>
              <a:t>n</a:t>
            </a:r>
            <a:r>
              <a:rPr b="1" i="1" lang="en-US" sz="40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"/>
              </a:rPr>
              <a:t> </a:t>
            </a:r>
            <a:r>
              <a:rPr b="1" i="1" lang="en-US" sz="40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"/>
              </a:rPr>
              <a:t>B</a:t>
            </a:r>
            <a:r>
              <a:rPr b="1" i="1" lang="en-US" sz="40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"/>
              </a:rPr>
              <a:t>o</a:t>
            </a:r>
            <a:r>
              <a:rPr b="1" i="1" lang="en-US" sz="40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"/>
              </a:rPr>
              <a:t>t</a:t>
            </a:r>
            <a:r>
              <a:rPr b="1" i="1" lang="en-US" sz="4000" spc="-1" strike="noStrike">
                <a:solidFill>
                  <a:schemeClr val="dk1">
                    <a:lumMod val="95000"/>
                    <a:lumOff val="5000"/>
                  </a:schemeClr>
                </a:solidFill>
                <a:latin typeface="Tw Cen MT"/>
              </a:rPr>
              <a:t>”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646880" cy="68565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43320" y="643320"/>
            <a:ext cx="3414240" cy="556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4000" spc="89" strike="noStrike" cap="all">
                <a:solidFill>
                  <a:srgbClr val="ffffff"/>
                </a:solidFill>
                <a:latin typeface="Tw Cen MT Condensed"/>
              </a:rPr>
              <a:t>Computer Blindness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8" name="Content Placeholder 2"/>
          <p:cNvGrpSpPr/>
          <p:nvPr/>
        </p:nvGrpSpPr>
        <p:grpSpPr>
          <a:xfrm>
            <a:off x="5603760" y="954000"/>
            <a:ext cx="5641920" cy="4919760"/>
            <a:chOff x="5603760" y="954000"/>
            <a:chExt cx="5641920" cy="4919760"/>
          </a:xfrm>
        </p:grpSpPr>
        <p:sp>
          <p:nvSpPr>
            <p:cNvPr id="79" name=""/>
            <p:cNvSpPr/>
            <p:nvPr/>
          </p:nvSpPr>
          <p:spPr>
            <a:xfrm>
              <a:off x="5603760" y="954000"/>
              <a:ext cx="5640480" cy="4919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0" name=""/>
            <p:cNvSpPr/>
            <p:nvPr/>
          </p:nvSpPr>
          <p:spPr>
            <a:xfrm>
              <a:off x="5603760" y="954360"/>
              <a:ext cx="5641920" cy="360"/>
            </a:xfrm>
            <a:prstGeom prst="line">
              <a:avLst/>
            </a:prstGeom>
            <a:ln>
              <a:solidFill>
                <a:srgbClr val="63a537"/>
              </a:solidFill>
              <a:round/>
            </a:ln>
          </p:spPr>
          <p:style>
            <a:lnRef idx="2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1" name=""/>
            <p:cNvSpPr/>
            <p:nvPr/>
          </p:nvSpPr>
          <p:spPr>
            <a:xfrm>
              <a:off x="5603760" y="954720"/>
              <a:ext cx="5640480" cy="982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1440" lIns="99000" rIns="99000" tIns="99000" bIns="99000" anchor="t">
              <a:noAutofit/>
            </a:bodyPr>
            <a:p>
              <a:pPr defTabSz="1155600">
                <a:lnSpc>
                  <a:spcPct val="90000"/>
                </a:lnSpc>
                <a:spcAft>
                  <a:spcPts val="910"/>
                </a:spcAft>
                <a:tabLst>
                  <a:tab algn="l" pos="0"/>
                </a:tabLst>
              </a:pPr>
              <a:r>
                <a:rPr b="0" lang="en-US" sz="2600" spc="-1" strike="noStrike">
                  <a:solidFill>
                    <a:srgbClr val="000000"/>
                  </a:solidFill>
                  <a:latin typeface="Tw Cen MT"/>
                </a:rPr>
                <a:t>Yazan Ayash                                             20222502096</a:t>
              </a:r>
              <a:endParaRPr b="0" lang="en-US" sz="2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2" name=""/>
            <p:cNvSpPr/>
            <p:nvPr/>
          </p:nvSpPr>
          <p:spPr>
            <a:xfrm>
              <a:off x="5603760" y="1938600"/>
              <a:ext cx="5641920" cy="360"/>
            </a:xfrm>
            <a:prstGeom prst="line">
              <a:avLst/>
            </a:prstGeom>
            <a:ln>
              <a:solidFill>
                <a:srgbClr val="7eb631"/>
              </a:solidFill>
              <a:round/>
            </a:ln>
          </p:spPr>
          <p:style>
            <a:lnRef idx="2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3" name=""/>
            <p:cNvSpPr/>
            <p:nvPr/>
          </p:nvSpPr>
          <p:spPr>
            <a:xfrm>
              <a:off x="5603760" y="1938600"/>
              <a:ext cx="5640480" cy="982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1440" lIns="99000" rIns="99000" tIns="99000" bIns="99000" anchor="t">
              <a:noAutofit/>
            </a:bodyPr>
            <a:p>
              <a:pPr defTabSz="1155600">
                <a:lnSpc>
                  <a:spcPct val="90000"/>
                </a:lnSpc>
                <a:spcAft>
                  <a:spcPts val="910"/>
                </a:spcAft>
                <a:tabLst>
                  <a:tab algn="l" pos="0"/>
                </a:tabLst>
              </a:pPr>
              <a:r>
                <a:rPr b="0" lang="en-US" sz="2600" spc="-1" strike="noStrike">
                  <a:solidFill>
                    <a:srgbClr val="000000"/>
                  </a:solidFill>
                  <a:latin typeface="Tw Cen MT"/>
                </a:rPr>
                <a:t>Basel Al Dwairi</a:t>
              </a:r>
              <a:endParaRPr b="0" lang="en-US" sz="2600" spc="-1" strike="noStrike">
                <a:solidFill>
                  <a:srgbClr val="000000"/>
                </a:solidFill>
                <a:latin typeface="Arial"/>
              </a:endParaRPr>
            </a:p>
            <a:p>
              <a:pPr defTabSz="1155600">
                <a:lnSpc>
                  <a:spcPct val="90000"/>
                </a:lnSpc>
                <a:spcAft>
                  <a:spcPts val="910"/>
                </a:spcAft>
                <a:tabLst>
                  <a:tab algn="l" pos="0"/>
                </a:tabLst>
              </a:pPr>
              <a:r>
                <a:rPr b="0" lang="en-US" sz="2600" spc="-1" strike="noStrike">
                  <a:solidFill>
                    <a:srgbClr val="000000"/>
                  </a:solidFill>
                  <a:latin typeface="Tw Cen MT"/>
                </a:rPr>
                <a:t>20221502065                                 </a:t>
              </a:r>
              <a:endParaRPr b="0" lang="en-US" sz="2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4" name=""/>
            <p:cNvSpPr/>
            <p:nvPr/>
          </p:nvSpPr>
          <p:spPr>
            <a:xfrm>
              <a:off x="5603760" y="2922480"/>
              <a:ext cx="5641920" cy="360"/>
            </a:xfrm>
            <a:prstGeom prst="line">
              <a:avLst/>
            </a:prstGeom>
            <a:ln>
              <a:solidFill>
                <a:srgbClr val="a2c82b"/>
              </a:solidFill>
              <a:round/>
            </a:ln>
          </p:spPr>
          <p:style>
            <a:lnRef idx="2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5" name=""/>
            <p:cNvSpPr/>
            <p:nvPr/>
          </p:nvSpPr>
          <p:spPr>
            <a:xfrm>
              <a:off x="5603760" y="2922840"/>
              <a:ext cx="5640480" cy="982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1440" lIns="99000" rIns="99000" tIns="99000" bIns="99000" anchor="t">
              <a:noAutofit/>
            </a:bodyPr>
            <a:p>
              <a:pPr defTabSz="1155600">
                <a:lnSpc>
                  <a:spcPct val="90000"/>
                </a:lnSpc>
                <a:spcAft>
                  <a:spcPts val="910"/>
                </a:spcAft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6" name=""/>
            <p:cNvSpPr/>
            <p:nvPr/>
          </p:nvSpPr>
          <p:spPr>
            <a:xfrm>
              <a:off x="5603760" y="3906360"/>
              <a:ext cx="5641920" cy="360"/>
            </a:xfrm>
            <a:prstGeom prst="line">
              <a:avLst/>
            </a:prstGeom>
            <a:ln>
              <a:solidFill>
                <a:srgbClr val="cfdb23"/>
              </a:solidFill>
              <a:round/>
            </a:ln>
          </p:spPr>
          <p:style>
            <a:lnRef idx="2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7" name=""/>
            <p:cNvSpPr/>
            <p:nvPr/>
          </p:nvSpPr>
          <p:spPr>
            <a:xfrm>
              <a:off x="5603760" y="3906720"/>
              <a:ext cx="5640480" cy="982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1440" lIns="99000" rIns="99000" tIns="99000" bIns="99000" anchor="t">
              <a:noAutofit/>
            </a:bodyPr>
            <a:p>
              <a:pPr defTabSz="1155600">
                <a:lnSpc>
                  <a:spcPct val="90000"/>
                </a:lnSpc>
                <a:spcAft>
                  <a:spcPts val="910"/>
                </a:spcAft>
                <a:tabLst>
                  <a:tab algn="l" pos="0"/>
                </a:tabLst>
              </a:pPr>
              <a:r>
                <a:rPr b="0" lang="en-US" sz="2600" spc="-1" strike="noStrike">
                  <a:solidFill>
                    <a:srgbClr val="000000"/>
                  </a:solidFill>
                  <a:latin typeface="Tw Cen MT"/>
                </a:rPr>
                <a:t>Rakan Abu Najem                                    20229502032</a:t>
              </a:r>
              <a:endParaRPr b="0" lang="en-US" sz="2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8" name=""/>
            <p:cNvSpPr/>
            <p:nvPr/>
          </p:nvSpPr>
          <p:spPr>
            <a:xfrm>
              <a:off x="5603760" y="4890600"/>
              <a:ext cx="5641920" cy="360"/>
            </a:xfrm>
            <a:prstGeom prst="line">
              <a:avLst/>
            </a:prstGeom>
            <a:ln>
              <a:solidFill>
                <a:srgbClr val="e6d024"/>
              </a:solidFill>
              <a:round/>
            </a:ln>
          </p:spPr>
          <p:style>
            <a:lnRef idx="2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9" name=""/>
            <p:cNvSpPr/>
            <p:nvPr/>
          </p:nvSpPr>
          <p:spPr>
            <a:xfrm>
              <a:off x="5603760" y="4890600"/>
              <a:ext cx="5640480" cy="982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1440" lIns="99000" rIns="99000" tIns="99000" bIns="99000" anchor="t">
              <a:noAutofit/>
            </a:bodyPr>
            <a:p>
              <a:pPr defTabSz="1155600">
                <a:lnSpc>
                  <a:spcPct val="90000"/>
                </a:lnSpc>
                <a:spcAft>
                  <a:spcPts val="910"/>
                </a:spcAft>
                <a:tabLst>
                  <a:tab algn="l" pos="0"/>
                </a:tabLst>
              </a:pPr>
              <a:r>
                <a:rPr b="0" lang="en-US" sz="2600" spc="-1" strike="noStrike">
                  <a:solidFill>
                    <a:srgbClr val="000000"/>
                  </a:solidFill>
                  <a:latin typeface="Tw Cen MT"/>
                </a:rPr>
                <a:t>Instructor Name: </a:t>
              </a:r>
              <a:r>
                <a:rPr b="0" lang="en-US" sz="2400" spc="-1" strike="noStrike">
                  <a:solidFill>
                    <a:srgbClr val="000000"/>
                  </a:solidFill>
                  <a:latin typeface="Tw Cen MT"/>
                </a:rPr>
                <a:t>Dr Mahmoud Al Sarayrah </a:t>
              </a:r>
              <a:r>
                <a:rPr b="0" lang="en-US" sz="2600" spc="-1" strike="noStrike">
                  <a:solidFill>
                    <a:srgbClr val="000000"/>
                  </a:solidFill>
                  <a:latin typeface="Tw Cen MT"/>
                </a:rPr>
                <a:t>Section 1 Image Processing </a:t>
              </a:r>
              <a:endParaRPr b="0" lang="en-US" sz="26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90" name=""/>
          <p:cNvSpPr/>
          <p:nvPr/>
        </p:nvSpPr>
        <p:spPr>
          <a:xfrm>
            <a:off x="5603760" y="2922840"/>
            <a:ext cx="5596560" cy="96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1155600">
              <a:lnSpc>
                <a:spcPct val="90000"/>
              </a:lnSpc>
              <a:spcAft>
                <a:spcPts val="910"/>
              </a:spcAft>
              <a:tabLst>
                <a:tab algn="l" pos="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Tw Cen MT"/>
              </a:rPr>
              <a:t>Mohammed Lafi                                         20229502018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7600" y="4572000"/>
            <a:ext cx="7056720" cy="1962720"/>
          </a:xfrm>
          <a:prstGeom prst="rect">
            <a:avLst/>
          </a:prstGeom>
          <a:solidFill>
            <a:srgbClr val="3032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524160" y="4767120"/>
            <a:ext cx="6592680" cy="162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5000" spc="89" strike="noStrike" cap="all">
                <a:solidFill>
                  <a:srgbClr val="ffffff"/>
                </a:solidFill>
                <a:latin typeface="Tw Cen MT Condensed"/>
              </a:rPr>
              <a:t>Why OUR project exists ??  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3" name="Picture 5" descr=""/>
          <p:cNvPicPr/>
          <p:nvPr/>
        </p:nvPicPr>
        <p:blipFill>
          <a:blip r:embed="rId1"/>
          <a:srcRect l="0" t="35600" r="0" b="6203"/>
          <a:stretch/>
        </p:blipFill>
        <p:spPr>
          <a:xfrm>
            <a:off x="327600" y="321840"/>
            <a:ext cx="7056720" cy="4105800"/>
          </a:xfrm>
          <a:prstGeom prst="rect">
            <a:avLst/>
          </a:prstGeom>
          <a:ln w="0">
            <a:noFill/>
          </a:ln>
        </p:spPr>
      </p:pic>
      <p:sp>
        <p:nvSpPr>
          <p:cNvPr id="94" name="Rectangl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34800" y="321840"/>
            <a:ext cx="4334040" cy="621324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8029440" y="917640"/>
            <a:ext cx="3423240" cy="48510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ctr">
            <a:normAutofit fontScale="98333" lnSpcReduction="10000"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Tw Cen MT"/>
              <a:buChar char=" "/>
            </a:pPr>
            <a:r>
              <a:rPr b="0" lang="en-US" sz="2200" spc="-1" strike="noStrike">
                <a:solidFill>
                  <a:srgbClr val="ffffff"/>
                </a:solidFill>
                <a:latin typeface="Tw Cen MT"/>
              </a:rPr>
              <a:t>Traditional coin sorting systems rely on physical properties , which become unreliable in real world conditions . Our project addresses this problem using image processing , machine and deep learning. Manual coin sorting is slow and exposed to errors so we are in actual deep need for an automated image-based solution which is way more accurate.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524160" y="4767120"/>
            <a:ext cx="6592680" cy="162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34800" y="321840"/>
            <a:ext cx="4334040" cy="621324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8029440" y="917640"/>
            <a:ext cx="3423240" cy="48510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4000" spc="89" strike="noStrike" cap="all">
                <a:solidFill>
                  <a:srgbClr val="ffffff"/>
                </a:solidFill>
                <a:latin typeface="Tw Cen MT Condensed"/>
              </a:rPr>
              <a:t>Original Design Concept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9" name="" descr=""/>
          <p:cNvPicPr/>
          <p:nvPr/>
        </p:nvPicPr>
        <p:blipFill>
          <a:blip r:embed="rId1"/>
          <a:stretch/>
        </p:blipFill>
        <p:spPr>
          <a:xfrm>
            <a:off x="914400" y="457200"/>
            <a:ext cx="6184800" cy="5933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34800" y="321840"/>
            <a:ext cx="4334040" cy="621324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sp>
        <p:nvSpPr>
          <p:cNvPr id="101" name="PlaceHolder 1"/>
          <p:cNvSpPr>
            <a:spLocks noGrp="1"/>
          </p:cNvSpPr>
          <p:nvPr>
            <p:ph/>
          </p:nvPr>
        </p:nvSpPr>
        <p:spPr>
          <a:xfrm>
            <a:off x="8029440" y="917640"/>
            <a:ext cx="3423240" cy="48510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4000" spc="89" strike="noStrike" cap="all">
                <a:solidFill>
                  <a:srgbClr val="ffffff"/>
                </a:solidFill>
                <a:latin typeface="Tw Cen MT Condensed"/>
              </a:rPr>
              <a:t>Original 3D Design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364680" y="988920"/>
            <a:ext cx="6949800" cy="4725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" name="Rectangl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0680" cy="68565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sp useBgFill="1">
        <p:nvSpPr>
          <p:cNvPr id="104" name="Rectangl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0680" cy="68565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5951880" y="585360"/>
            <a:ext cx="5739120" cy="149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9999" lnSpcReduction="10000"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4800" spc="89" strike="noStrike" cap="all">
                <a:solidFill>
                  <a:schemeClr val="dk1">
                    <a:lumMod val="95000"/>
                    <a:lumOff val="5000"/>
                  </a:schemeClr>
                </a:solidFill>
                <a:latin typeface="Tw Cen MT Condensed"/>
              </a:rPr>
              <a:t>Physical Overview of coin bot  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Picture 4" descr=""/>
          <p:cNvPicPr/>
          <p:nvPr/>
        </p:nvPicPr>
        <p:blipFill>
          <a:blip r:embed="rId1"/>
          <a:stretch/>
        </p:blipFill>
        <p:spPr>
          <a:xfrm>
            <a:off x="484560" y="929880"/>
            <a:ext cx="3528720" cy="2619720"/>
          </a:xfrm>
          <a:prstGeom prst="rect">
            <a:avLst/>
          </a:prstGeom>
          <a:ln w="0">
            <a:noFill/>
          </a:ln>
        </p:spPr>
      </p:pic>
      <p:sp>
        <p:nvSpPr>
          <p:cNvPr id="107" name="Rectangl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75640" y="484560"/>
            <a:ext cx="803160" cy="3510360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cxnSp>
        <p:nvCxnSpPr>
          <p:cNvPr id="108" name="Straight Connector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5689440" y="826200"/>
            <a:ext cx="1440" cy="915840"/>
          </a:xfrm>
          <a:prstGeom prst="straightConnector1">
            <a:avLst/>
          </a:prstGeom>
          <a:ln w="19050">
            <a:solidFill>
              <a:srgbClr val="99cb38"/>
            </a:solidFill>
            <a:round/>
          </a:ln>
        </p:spPr>
      </p:cxnSp>
      <p:pic>
        <p:nvPicPr>
          <p:cNvPr id="109" name="Picture 6" descr=""/>
          <p:cNvPicPr/>
          <p:nvPr/>
        </p:nvPicPr>
        <p:blipFill>
          <a:blip r:embed="rId2"/>
          <a:stretch/>
        </p:blipFill>
        <p:spPr>
          <a:xfrm>
            <a:off x="484560" y="4359600"/>
            <a:ext cx="2181960" cy="1811880"/>
          </a:xfrm>
          <a:prstGeom prst="rect">
            <a:avLst/>
          </a:prstGeom>
          <a:ln w="0">
            <a:noFill/>
          </a:ln>
        </p:spPr>
      </p:pic>
      <p:pic>
        <p:nvPicPr>
          <p:cNvPr id="110" name="Picture 8" descr=""/>
          <p:cNvPicPr/>
          <p:nvPr/>
        </p:nvPicPr>
        <p:blipFill>
          <a:blip r:embed="rId3"/>
          <a:stretch/>
        </p:blipFill>
        <p:spPr>
          <a:xfrm>
            <a:off x="2828880" y="4352040"/>
            <a:ext cx="2149920" cy="1827360"/>
          </a:xfrm>
          <a:prstGeom prst="rect">
            <a:avLst/>
          </a:prstGeom>
          <a:ln w="0">
            <a:noFill/>
          </a:ln>
        </p:spPr>
      </p:pic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5951880" y="2286000"/>
            <a:ext cx="5739120" cy="40219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Tw Cen MT"/>
              <a:buChar char=" "/>
            </a:pPr>
            <a:r>
              <a:rPr b="0" lang="en-US" sz="1400" spc="-1" strike="noStrike">
                <a:solidFill>
                  <a:schemeClr val="dk1"/>
                </a:solidFill>
                <a:latin typeface="Tw Cen MT"/>
              </a:rPr>
              <a:t>The physical prototype consists of: a box that has got the following: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Wingdings" charset="2"/>
              <a:buChar char=""/>
            </a:pPr>
            <a:r>
              <a:rPr b="0" lang="en-US" sz="1400" spc="-1" strike="noStrike">
                <a:solidFill>
                  <a:schemeClr val="dk1"/>
                </a:solidFill>
                <a:latin typeface="Tw Cen MT"/>
              </a:rPr>
              <a:t> </a:t>
            </a:r>
            <a:r>
              <a:rPr b="0" lang="en-US" sz="1400" spc="-1" strike="noStrike">
                <a:solidFill>
                  <a:schemeClr val="dk1"/>
                </a:solidFill>
                <a:latin typeface="Tw Cen MT"/>
              </a:rPr>
              <a:t>An </a:t>
            </a:r>
            <a:r>
              <a:rPr b="1" i="1" lang="en-US" sz="1400" spc="-1" strike="noStrike">
                <a:solidFill>
                  <a:schemeClr val="dk1"/>
                </a:solidFill>
                <a:latin typeface="Tw Cen MT"/>
              </a:rPr>
              <a:t>ESP32-CAM</a:t>
            </a:r>
            <a:r>
              <a:rPr b="0" lang="en-US" sz="1400" spc="-1" strike="noStrike">
                <a:solidFill>
                  <a:schemeClr val="dk1"/>
                </a:solidFill>
                <a:latin typeface="Tw Cen MT"/>
              </a:rPr>
              <a:t> module for capturing images of inserted Jordanian coins ( 5 piasters , 10 piasters , 25 piasters </a:t>
            </a:r>
            <a:r>
              <a:rPr b="0" lang="en-US" sz="1400" spc="-1" strike="noStrike">
                <a:solidFill>
                  <a:schemeClr val="dk1"/>
                </a:solidFill>
                <a:latin typeface="Tw Cen MT"/>
              </a:rPr>
              <a:t>and 50 piasters ).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Wingdings" charset="2"/>
              <a:buChar char=""/>
            </a:pPr>
            <a:r>
              <a:rPr b="0" lang="en-US" sz="1400" spc="-1" strike="noStrike">
                <a:solidFill>
                  <a:schemeClr val="dk1"/>
                </a:solidFill>
                <a:latin typeface="Tw Cen MT"/>
              </a:rPr>
              <a:t>An </a:t>
            </a:r>
            <a:r>
              <a:rPr b="1" i="1" lang="en-US" sz="1400" spc="-1" strike="noStrike">
                <a:solidFill>
                  <a:schemeClr val="dk1"/>
                </a:solidFill>
                <a:latin typeface="Tw Cen MT"/>
              </a:rPr>
              <a:t>Infra-Red </a:t>
            </a:r>
            <a:r>
              <a:rPr b="0" lang="en-US" sz="1400" spc="-1" strike="noStrike">
                <a:solidFill>
                  <a:schemeClr val="dk1"/>
                </a:solidFill>
                <a:latin typeface="Tw Cen MT"/>
              </a:rPr>
              <a:t>sensor</a:t>
            </a:r>
            <a:r>
              <a:rPr b="1" i="1" lang="en-US" sz="1400" spc="-1" strike="noStrike">
                <a:solidFill>
                  <a:schemeClr val="dk1"/>
                </a:solidFill>
                <a:latin typeface="Tw Cen MT"/>
              </a:rPr>
              <a:t> </a:t>
            </a:r>
            <a:r>
              <a:rPr b="0" lang="en-US" sz="1400" spc="-1" strike="noStrike">
                <a:solidFill>
                  <a:schemeClr val="dk1"/>
                </a:solidFill>
                <a:latin typeface="Tw Cen MT"/>
              </a:rPr>
              <a:t>is used to detect the coin insertion and cause the triggering of the image capture process.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Wingdings" charset="2"/>
              <a:buChar char=""/>
            </a:pPr>
            <a:r>
              <a:rPr b="0" lang="en-US" sz="1400" spc="-1" strike="noStrike">
                <a:solidFill>
                  <a:schemeClr val="dk1"/>
                </a:solidFill>
                <a:latin typeface="Tw Cen MT"/>
              </a:rPr>
              <a:t>The motors controlled are of type </a:t>
            </a:r>
            <a:r>
              <a:rPr b="1" i="1" lang="en-US" sz="1400" spc="-1" strike="noStrike">
                <a:solidFill>
                  <a:schemeClr val="dk1"/>
                </a:solidFill>
                <a:latin typeface="Tw Cen MT"/>
              </a:rPr>
              <a:t> “Angular Servo Motor 9G” </a:t>
            </a:r>
            <a:r>
              <a:rPr b="0" lang="en-US" sz="1400" spc="-1" strike="noStrike">
                <a:solidFill>
                  <a:schemeClr val="dk1"/>
                </a:solidFill>
                <a:latin typeface="Tw Cen MT"/>
              </a:rPr>
              <a:t>and there are 3 of them , one is attached to control </a:t>
            </a:r>
            <a:r>
              <a:rPr b="0" lang="en-US" sz="1400" spc="-1" strike="noStrike">
                <a:solidFill>
                  <a:schemeClr val="dk1"/>
                </a:solidFill>
                <a:latin typeface="Tw Cen MT"/>
              </a:rPr>
              <a:t>the gate ( opens and closes and allows release of coin ) , the second is attached to deliver the coin it to its </a:t>
            </a:r>
            <a:r>
              <a:rPr b="0" lang="en-US" sz="1400" spc="-1" strike="noStrike">
                <a:solidFill>
                  <a:schemeClr val="dk1"/>
                </a:solidFill>
                <a:latin typeface="Tw Cen MT"/>
              </a:rPr>
              <a:t>destined slot and the third is attached at the middle of the ramp to hold it until the previous motor decides </a:t>
            </a:r>
            <a:r>
              <a:rPr b="0" lang="en-US" sz="1400" spc="-1" strike="noStrike">
                <a:solidFill>
                  <a:schemeClr val="dk1"/>
                </a:solidFill>
                <a:latin typeface="Tw Cen MT"/>
              </a:rPr>
              <a:t>which slot it is destined to fall on.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Wingdings" charset="2"/>
              <a:buChar char=""/>
            </a:pPr>
            <a:r>
              <a:rPr b="0" lang="en-US" sz="1400" spc="-1" strike="noStrike">
                <a:solidFill>
                  <a:schemeClr val="dk1"/>
                </a:solidFill>
                <a:latin typeface="Tw Cen MT"/>
              </a:rPr>
              <a:t>An </a:t>
            </a:r>
            <a:r>
              <a:rPr b="1" i="1" lang="en-US" sz="1400" spc="-1" strike="noStrike">
                <a:solidFill>
                  <a:schemeClr val="dk1"/>
                </a:solidFill>
                <a:latin typeface="Tw Cen MT"/>
              </a:rPr>
              <a:t>ESP32</a:t>
            </a:r>
            <a:r>
              <a:rPr b="0" lang="en-US" sz="1400" spc="-1" strike="noStrike">
                <a:solidFill>
                  <a:schemeClr val="dk1"/>
                </a:solidFill>
                <a:latin typeface="Tw Cen MT"/>
              </a:rPr>
              <a:t> microcontroller responsible for sensor reading , communication , and motor control and they are all </a:t>
            </a:r>
            <a:r>
              <a:rPr b="0" lang="en-US" sz="1400" spc="-1" strike="noStrike">
                <a:solidFill>
                  <a:schemeClr val="dk1"/>
                </a:solidFill>
                <a:latin typeface="Tw Cen MT"/>
              </a:rPr>
              <a:t>connected using wires , and resistors are used to add resistance to maintain the sensors’ and motors’ statuses </a:t>
            </a:r>
            <a:r>
              <a:rPr b="0" lang="en-US" sz="1400" spc="-1" strike="noStrike">
                <a:solidFill>
                  <a:schemeClr val="dk1"/>
                </a:solidFill>
                <a:latin typeface="Tw Cen MT"/>
              </a:rPr>
              <a:t>and prevent them from getting damaged. 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Tw Cen MT"/>
              </a:rPr>
              <a:t> 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ctangl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97720" y="484560"/>
            <a:ext cx="7793280" cy="35103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sp>
        <p:nvSpPr>
          <p:cNvPr id="113" name="Rectangl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97720" y="4150440"/>
            <a:ext cx="7793280" cy="22183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685040" y="4390920"/>
            <a:ext cx="6684120" cy="1737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9999"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5000" spc="89" strike="noStrike" cap="all">
                <a:solidFill>
                  <a:srgbClr val="ffffff"/>
                </a:solidFill>
                <a:latin typeface="Tw Cen MT Condensed"/>
              </a:rPr>
              <a:t>SOFTWARE &amp; MODEL OVERVIEW OF COIN BOT 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5" name="Picture 4" descr=""/>
          <p:cNvPicPr/>
          <p:nvPr/>
        </p:nvPicPr>
        <p:blipFill>
          <a:blip r:embed="rId1"/>
          <a:stretch/>
        </p:blipFill>
        <p:spPr>
          <a:xfrm>
            <a:off x="484560" y="1305000"/>
            <a:ext cx="3247200" cy="1866600"/>
          </a:xfrm>
          <a:prstGeom prst="rect">
            <a:avLst/>
          </a:prstGeom>
          <a:ln w="0">
            <a:noFill/>
          </a:ln>
        </p:spPr>
      </p:pic>
      <p:grpSp>
        <p:nvGrpSpPr>
          <p:cNvPr id="116" name="Content Placeholder 2"/>
          <p:cNvGrpSpPr/>
          <p:nvPr/>
        </p:nvGrpSpPr>
        <p:grpSpPr>
          <a:xfrm>
            <a:off x="4219920" y="804960"/>
            <a:ext cx="7149240" cy="2869920"/>
            <a:chOff x="4219920" y="804960"/>
            <a:chExt cx="7149240" cy="2869920"/>
          </a:xfrm>
        </p:grpSpPr>
        <p:sp>
          <p:nvSpPr>
            <p:cNvPr id="117" name=""/>
            <p:cNvSpPr/>
            <p:nvPr/>
          </p:nvSpPr>
          <p:spPr>
            <a:xfrm>
              <a:off x="4219920" y="804960"/>
              <a:ext cx="7149240" cy="2869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8" name=""/>
            <p:cNvSpPr/>
            <p:nvPr/>
          </p:nvSpPr>
          <p:spPr>
            <a:xfrm>
              <a:off x="4264560" y="806400"/>
              <a:ext cx="2205360" cy="1322640"/>
            </a:xfrm>
            <a:prstGeom prst="rect">
              <a:avLst/>
            </a:prstGeom>
            <a:solidFill>
              <a:schemeClr val="accent1">
                <a:hueOff val="0"/>
                <a:satOff val="0"/>
                <a:lumOff val="0"/>
                <a:alphaOff val="0"/>
              </a:schemeClr>
            </a:solidFill>
            <a:ln>
              <a:solidFill>
                <a:srgbClr val="ffffff"/>
              </a:solidFill>
              <a:round/>
            </a:ln>
          </p:spPr>
          <p:style>
            <a:lnRef idx="2"/>
            <a:fillRef idx="0"/>
            <a:effectRef idx="0"/>
            <a:fontRef idx="minor"/>
          </p:style>
          <p:txBody>
            <a:bodyPr numCol="1" spcCol="1440" lIns="53280" rIns="53280" tIns="53280" bIns="53280" anchor="ctr">
              <a:noAutofit/>
            </a:bodyPr>
            <a:p>
              <a:pPr algn="ctr" defTabSz="622440">
                <a:lnSpc>
                  <a:spcPct val="90000"/>
                </a:lnSpc>
                <a:spcAft>
                  <a:spcPts val="490"/>
                </a:spcAft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chemeClr val="lt1"/>
                  </a:solidFill>
                  <a:latin typeface="Tw Cen MT"/>
                </a:rPr>
                <a:t>The Software and model consist of: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9" name=""/>
            <p:cNvSpPr/>
            <p:nvPr/>
          </p:nvSpPr>
          <p:spPr>
            <a:xfrm>
              <a:off x="6691680" y="806400"/>
              <a:ext cx="2205360" cy="1322640"/>
            </a:xfrm>
            <a:prstGeom prst="rect">
              <a:avLst/>
            </a:prstGeom>
            <a:solidFill>
              <a:schemeClr val="accent1">
                <a:hueOff val="0"/>
                <a:satOff val="0"/>
                <a:lumOff val="0"/>
                <a:alphaOff val="0"/>
              </a:schemeClr>
            </a:solidFill>
            <a:ln>
              <a:solidFill>
                <a:srgbClr val="ffffff"/>
              </a:solidFill>
              <a:round/>
            </a:ln>
          </p:spPr>
          <p:style>
            <a:lnRef idx="2"/>
            <a:fillRef idx="0"/>
            <a:effectRef idx="0"/>
            <a:fontRef idx="minor"/>
          </p:style>
          <p:txBody>
            <a:bodyPr numCol="1" spcCol="1440" lIns="53280" rIns="53280" tIns="53280" bIns="53280" anchor="ctr">
              <a:noAutofit/>
            </a:bodyPr>
            <a:p>
              <a:pPr algn="ctr" defTabSz="622440">
                <a:lnSpc>
                  <a:spcPct val="90000"/>
                </a:lnSpc>
                <a:spcAft>
                  <a:spcPts val="490"/>
                </a:spcAft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chemeClr val="lt1"/>
                  </a:solidFill>
                  <a:latin typeface="Tw Cen MT"/>
                </a:rPr>
                <a:t>A </a:t>
              </a:r>
              <a:r>
                <a:rPr b="1" i="1" lang="en-US" sz="1400" spc="-1" strike="noStrike">
                  <a:solidFill>
                    <a:schemeClr val="lt1"/>
                  </a:solidFill>
                  <a:latin typeface="Tw Cen MT"/>
                </a:rPr>
                <a:t>Python-based image processing pipeline </a:t>
              </a:r>
              <a:r>
                <a:rPr b="0" lang="en-US" sz="1400" spc="-1" strike="noStrike">
                  <a:solidFill>
                    <a:schemeClr val="lt1"/>
                  </a:solidFill>
                  <a:latin typeface="Tw Cen MT"/>
                </a:rPr>
                <a:t>for preprocessing captured coin images from a single dataset. 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0" name=""/>
            <p:cNvSpPr/>
            <p:nvPr/>
          </p:nvSpPr>
          <p:spPr>
            <a:xfrm>
              <a:off x="9119160" y="806400"/>
              <a:ext cx="2205360" cy="1322640"/>
            </a:xfrm>
            <a:prstGeom prst="rect">
              <a:avLst/>
            </a:prstGeom>
            <a:solidFill>
              <a:schemeClr val="accent1">
                <a:hueOff val="0"/>
                <a:satOff val="0"/>
                <a:lumOff val="0"/>
                <a:alphaOff val="0"/>
              </a:schemeClr>
            </a:solidFill>
            <a:ln>
              <a:solidFill>
                <a:srgbClr val="ffffff"/>
              </a:solidFill>
              <a:round/>
            </a:ln>
          </p:spPr>
          <p:style>
            <a:lnRef idx="2"/>
            <a:fillRef idx="0"/>
            <a:effectRef idx="0"/>
            <a:fontRef idx="minor"/>
          </p:style>
          <p:txBody>
            <a:bodyPr numCol="1" spcCol="1440" lIns="53280" rIns="53280" tIns="53280" bIns="53280" anchor="ctr">
              <a:noAutofit/>
            </a:bodyPr>
            <a:p>
              <a:pPr algn="ctr" defTabSz="622440">
                <a:lnSpc>
                  <a:spcPct val="90000"/>
                </a:lnSpc>
                <a:spcAft>
                  <a:spcPts val="490"/>
                </a:spcAft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chemeClr val="lt1"/>
                  </a:solidFill>
                  <a:latin typeface="Tw Cen MT"/>
                </a:rPr>
                <a:t>A </a:t>
              </a:r>
              <a:r>
                <a:rPr b="1" i="1" lang="en-US" sz="1400" spc="-1" strike="noStrike">
                  <a:solidFill>
                    <a:schemeClr val="lt1"/>
                  </a:solidFill>
                  <a:latin typeface="Tw Cen MT"/>
                </a:rPr>
                <a:t>convolutional neural network (CNN) </a:t>
              </a:r>
              <a:r>
                <a:rPr b="0" lang="en-US" sz="1400" spc="-1" strike="noStrike">
                  <a:solidFill>
                    <a:schemeClr val="lt1"/>
                  </a:solidFill>
                  <a:latin typeface="Tw Cen MT"/>
                </a:rPr>
                <a:t>built using </a:t>
              </a:r>
              <a:r>
                <a:rPr b="0" i="1" lang="en-US" sz="1400" spc="-1" strike="noStrike" u="sng">
                  <a:solidFill>
                    <a:schemeClr val="lt1"/>
                  </a:solidFill>
                  <a:uFillTx/>
                  <a:latin typeface="Tw Cen MT"/>
                </a:rPr>
                <a:t>TensorFlow </a:t>
              </a:r>
              <a:r>
                <a:rPr b="0" lang="en-US" sz="1400" spc="-1" strike="noStrike">
                  <a:solidFill>
                    <a:schemeClr val="lt1"/>
                  </a:solidFill>
                  <a:latin typeface="Tw Cen MT"/>
                </a:rPr>
                <a:t>and trained with </a:t>
              </a:r>
              <a:r>
                <a:rPr b="1" i="1" lang="en-US" sz="1400" spc="-1" strike="noStrike">
                  <a:solidFill>
                    <a:schemeClr val="lt1"/>
                  </a:solidFill>
                  <a:latin typeface="Tw Cen MT"/>
                </a:rPr>
                <a:t>transfer learning.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1" name=""/>
            <p:cNvSpPr/>
            <p:nvPr/>
          </p:nvSpPr>
          <p:spPr>
            <a:xfrm>
              <a:off x="4264560" y="2350800"/>
              <a:ext cx="2205360" cy="1322640"/>
            </a:xfrm>
            <a:prstGeom prst="rect">
              <a:avLst/>
            </a:prstGeom>
            <a:solidFill>
              <a:schemeClr val="accent1">
                <a:hueOff val="0"/>
                <a:satOff val="0"/>
                <a:lumOff val="0"/>
                <a:alphaOff val="0"/>
              </a:schemeClr>
            </a:solidFill>
            <a:ln>
              <a:solidFill>
                <a:srgbClr val="ffffff"/>
              </a:solidFill>
              <a:round/>
            </a:ln>
          </p:spPr>
          <p:style>
            <a:lnRef idx="2"/>
            <a:fillRef idx="0"/>
            <a:effectRef idx="0"/>
            <a:fontRef idx="minor"/>
          </p:style>
          <p:txBody>
            <a:bodyPr numCol="1" spcCol="1440" lIns="53280" rIns="53280" tIns="53280" bIns="53280" anchor="ctr">
              <a:noAutofit/>
            </a:bodyPr>
            <a:p>
              <a:pPr algn="ctr" defTabSz="622440">
                <a:lnSpc>
                  <a:spcPct val="90000"/>
                </a:lnSpc>
                <a:spcAft>
                  <a:spcPts val="490"/>
                </a:spcAft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chemeClr val="lt1"/>
                  </a:solidFill>
                  <a:latin typeface="Tw Cen MT"/>
                </a:rPr>
                <a:t>A </a:t>
              </a:r>
              <a:r>
                <a:rPr b="1" i="1" lang="en-US" sz="1400" spc="-1" strike="noStrike">
                  <a:solidFill>
                    <a:schemeClr val="lt1"/>
                  </a:solidFill>
                  <a:latin typeface="Tw Cen MT"/>
                </a:rPr>
                <a:t>MobileNetV2 pre-trained model </a:t>
              </a:r>
              <a:r>
                <a:rPr b="0" lang="en-US" sz="1400" spc="-1" strike="noStrike">
                  <a:solidFill>
                    <a:schemeClr val="lt1"/>
                  </a:solidFill>
                  <a:latin typeface="Tw Cen MT"/>
                </a:rPr>
                <a:t>, frozen during training and fine tuned for Jordanian coin classification. 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2" name=""/>
            <p:cNvSpPr/>
            <p:nvPr/>
          </p:nvSpPr>
          <p:spPr>
            <a:xfrm>
              <a:off x="6691680" y="2350800"/>
              <a:ext cx="2205360" cy="1322640"/>
            </a:xfrm>
            <a:prstGeom prst="rect">
              <a:avLst/>
            </a:prstGeom>
            <a:solidFill>
              <a:schemeClr val="accent1">
                <a:hueOff val="0"/>
                <a:satOff val="0"/>
                <a:lumOff val="0"/>
                <a:alphaOff val="0"/>
              </a:schemeClr>
            </a:solidFill>
            <a:ln>
              <a:solidFill>
                <a:srgbClr val="ffffff"/>
              </a:solidFill>
              <a:round/>
            </a:ln>
          </p:spPr>
          <p:style>
            <a:lnRef idx="2"/>
            <a:fillRef idx="0"/>
            <a:effectRef idx="0"/>
            <a:fontRef idx="minor"/>
          </p:style>
          <p:txBody>
            <a:bodyPr numCol="1" spcCol="1440" lIns="53280" rIns="53280" tIns="53280" bIns="53280" anchor="ctr">
              <a:noAutofit/>
            </a:bodyPr>
            <a:p>
              <a:pPr algn="ctr" defTabSz="622440">
                <a:lnSpc>
                  <a:spcPct val="90000"/>
                </a:lnSpc>
                <a:spcAft>
                  <a:spcPts val="490"/>
                </a:spcAft>
                <a:tabLst>
                  <a:tab algn="l" pos="0"/>
                </a:tabLst>
              </a:pPr>
              <a:r>
                <a:rPr b="1" i="1" lang="en-US" sz="1400" spc="-1" strike="noStrike">
                  <a:solidFill>
                    <a:schemeClr val="lt1"/>
                  </a:solidFill>
                  <a:latin typeface="Tw Cen MT"/>
                </a:rPr>
                <a:t>TCP/IP socket communication code </a:t>
              </a:r>
              <a:r>
                <a:rPr b="0" lang="en-US" sz="1400" spc="-1" strike="noStrike">
                  <a:solidFill>
                    <a:schemeClr val="lt1"/>
                  </a:solidFill>
                  <a:latin typeface="Tw Cen MT"/>
                </a:rPr>
                <a:t>to handle image transfer and classification results between the ESP32 , ESP32-CAM , and the host machine, reliably.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3" name=""/>
            <p:cNvSpPr/>
            <p:nvPr/>
          </p:nvSpPr>
          <p:spPr>
            <a:xfrm>
              <a:off x="9119160" y="2350800"/>
              <a:ext cx="2205360" cy="1322640"/>
            </a:xfrm>
            <a:prstGeom prst="rect">
              <a:avLst/>
            </a:prstGeom>
            <a:solidFill>
              <a:schemeClr val="accent1">
                <a:hueOff val="0"/>
                <a:satOff val="0"/>
                <a:lumOff val="0"/>
                <a:alphaOff val="0"/>
              </a:schemeClr>
            </a:solidFill>
            <a:ln>
              <a:solidFill>
                <a:srgbClr val="ffffff"/>
              </a:solidFill>
              <a:round/>
            </a:ln>
          </p:spPr>
          <p:style>
            <a:lnRef idx="2"/>
            <a:fillRef idx="0"/>
            <a:effectRef idx="0"/>
            <a:fontRef idx="minor"/>
          </p:style>
          <p:txBody>
            <a:bodyPr numCol="1" spcCol="1440" lIns="53280" rIns="53280" tIns="53280" bIns="53280" anchor="ctr">
              <a:noAutofit/>
            </a:bodyPr>
            <a:p>
              <a:pPr algn="ctr" defTabSz="622440">
                <a:lnSpc>
                  <a:spcPct val="90000"/>
                </a:lnSpc>
                <a:spcAft>
                  <a:spcPts val="490"/>
                </a:spcAft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chemeClr val="lt1"/>
                  </a:solidFill>
                  <a:latin typeface="Tw Cen MT"/>
                </a:rPr>
                <a:t>A</a:t>
              </a:r>
              <a:r>
                <a:rPr b="1" i="1" lang="en-US" sz="1400" spc="-1" strike="noStrike">
                  <a:solidFill>
                    <a:schemeClr val="lt1"/>
                  </a:solidFill>
                  <a:latin typeface="Tw Cen MT"/>
                </a:rPr>
                <a:t> Streamlit-based user interface </a:t>
              </a:r>
              <a:r>
                <a:rPr b="0" lang="en-US" sz="1400" spc="-1" strike="noStrike">
                  <a:solidFill>
                    <a:schemeClr val="lt1"/>
                  </a:solidFill>
                  <a:latin typeface="Tw Cen MT"/>
                </a:rPr>
                <a:t>used to test and validate the model using local and web images, and a prototype for segmenting coins from images.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124" name="Picture 6" descr=""/>
          <p:cNvPicPr/>
          <p:nvPr/>
        </p:nvPicPr>
        <p:blipFill>
          <a:blip r:embed="rId2"/>
          <a:stretch/>
        </p:blipFill>
        <p:spPr>
          <a:xfrm>
            <a:off x="484560" y="4368960"/>
            <a:ext cx="3247200" cy="1793520"/>
          </a:xfrm>
          <a:prstGeom prst="rect">
            <a:avLst/>
          </a:prstGeom>
          <a:ln w="0">
            <a:noFill/>
          </a:ln>
        </p:spPr>
      </p:pic>
      <p:cxnSp>
        <p:nvCxnSpPr>
          <p:cNvPr id="125" name="Straight Connector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4422600" y="4803120"/>
            <a:ext cx="1440" cy="915840"/>
          </a:xfrm>
          <a:prstGeom prst="straightConnector1">
            <a:avLst/>
          </a:prstGeom>
          <a:ln w="19050">
            <a:solidFill>
              <a:srgbClr val="ffffff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4730760" cy="149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5000" spc="89" strike="noStrike" cap="all">
                <a:solidFill>
                  <a:schemeClr val="dk1">
                    <a:lumMod val="95000"/>
                    <a:lumOff val="5000"/>
                  </a:schemeClr>
                </a:solidFill>
                <a:latin typeface="Tw Cen MT Condensed"/>
              </a:rPr>
              <a:t>Why image processing ? 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27" name="Content Placeholder 2"/>
          <p:cNvGrpSpPr/>
          <p:nvPr/>
        </p:nvGrpSpPr>
        <p:grpSpPr>
          <a:xfrm>
            <a:off x="1024200" y="2286000"/>
            <a:ext cx="4654800" cy="4021920"/>
            <a:chOff x="1024200" y="2286000"/>
            <a:chExt cx="4654800" cy="4021920"/>
          </a:xfrm>
        </p:grpSpPr>
        <p:sp>
          <p:nvSpPr>
            <p:cNvPr id="128" name=""/>
            <p:cNvSpPr/>
            <p:nvPr/>
          </p:nvSpPr>
          <p:spPr>
            <a:xfrm>
              <a:off x="1024200" y="2286000"/>
              <a:ext cx="4654800" cy="4021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9" name=""/>
            <p:cNvSpPr/>
            <p:nvPr/>
          </p:nvSpPr>
          <p:spPr>
            <a:xfrm>
              <a:off x="1024200" y="2403720"/>
              <a:ext cx="4654800" cy="941760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</a:schemeClr>
            </a:solidFill>
            <a:ln>
              <a:solidFill>
                <a:srgbClr val="ffffff"/>
              </a:solidFill>
              <a:round/>
            </a:ln>
          </p:spPr>
          <p:style>
            <a:lnRef idx="2"/>
            <a:fillRef idx="0"/>
            <a:effectRef idx="0"/>
            <a:fontRef idx="minor"/>
          </p:style>
          <p:txBody>
            <a:bodyPr numCol="1" spcCol="1440" lIns="99000" rIns="99000" tIns="99000" bIns="99000" anchor="ctr">
              <a:noAutofit/>
            </a:bodyPr>
            <a:p>
              <a:pPr defTabSz="1155600">
                <a:lnSpc>
                  <a:spcPct val="90000"/>
                </a:lnSpc>
                <a:spcBef>
                  <a:spcPts val="1191"/>
                </a:spcBef>
                <a:spcAft>
                  <a:spcPts val="992"/>
                </a:spcAft>
                <a:tabLst>
                  <a:tab algn="l" pos="0"/>
                </a:tabLst>
              </a:pPr>
              <a:r>
                <a:rPr b="0" lang="en-US" sz="2600" spc="-1" strike="noStrike">
                  <a:solidFill>
                    <a:schemeClr val="lt1"/>
                  </a:solidFill>
                  <a:latin typeface="Tw Cen MT"/>
                </a:rPr>
                <a:t>Segment and Crop Coins individually</a:t>
              </a:r>
              <a:endParaRPr b="0" lang="en-US" sz="2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0" name=""/>
            <p:cNvSpPr/>
            <p:nvPr/>
          </p:nvSpPr>
          <p:spPr>
            <a:xfrm>
              <a:off x="1024200" y="3317400"/>
              <a:ext cx="4654800" cy="941760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</a:schemeClr>
            </a:solidFill>
            <a:ln>
              <a:solidFill>
                <a:srgbClr val="ffffff"/>
              </a:solidFill>
              <a:round/>
            </a:ln>
          </p:spPr>
          <p:style>
            <a:lnRef idx="2"/>
            <a:fillRef idx="0"/>
            <a:effectRef idx="0"/>
            <a:fontRef idx="minor"/>
          </p:style>
          <p:txBody>
            <a:bodyPr numCol="1" spcCol="1440" lIns="99000" rIns="99000" tIns="99000" bIns="99000" anchor="ctr">
              <a:noAutofit/>
            </a:bodyPr>
            <a:p>
              <a:pPr defTabSz="1155600">
                <a:lnSpc>
                  <a:spcPct val="90000"/>
                </a:lnSpc>
                <a:spcAft>
                  <a:spcPts val="910"/>
                </a:spcAft>
                <a:tabLst>
                  <a:tab algn="l" pos="0"/>
                </a:tabLst>
              </a:pPr>
              <a:r>
                <a:rPr b="0" lang="en-US" sz="2600" spc="-1" strike="noStrike">
                  <a:solidFill>
                    <a:schemeClr val="lt1"/>
                  </a:solidFill>
                  <a:latin typeface="Tw Cen MT"/>
                </a:rPr>
                <a:t>Normalizes image size </a:t>
              </a:r>
              <a:endParaRPr b="0" lang="en-US" sz="2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1" name=""/>
            <p:cNvSpPr/>
            <p:nvPr/>
          </p:nvSpPr>
          <p:spPr>
            <a:xfrm>
              <a:off x="1024200" y="4335120"/>
              <a:ext cx="4654800" cy="941760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</a:schemeClr>
            </a:solidFill>
            <a:ln>
              <a:solidFill>
                <a:srgbClr val="ffffff"/>
              </a:solidFill>
              <a:round/>
            </a:ln>
          </p:spPr>
          <p:style>
            <a:lnRef idx="2"/>
            <a:fillRef idx="0"/>
            <a:effectRef idx="0"/>
            <a:fontRef idx="minor"/>
          </p:style>
          <p:txBody>
            <a:bodyPr numCol="1" spcCol="1440" lIns="99000" rIns="99000" tIns="99000" bIns="99000" anchor="ctr">
              <a:noAutofit/>
            </a:bodyPr>
            <a:p>
              <a:pPr defTabSz="1155600">
                <a:lnSpc>
                  <a:spcPct val="90000"/>
                </a:lnSpc>
                <a:spcAft>
                  <a:spcPts val="910"/>
                </a:spcAft>
                <a:tabLst>
                  <a:tab algn="l" pos="0"/>
                </a:tabLst>
              </a:pPr>
              <a:r>
                <a:rPr b="0" lang="en-US" sz="2600" spc="-1" strike="noStrike">
                  <a:solidFill>
                    <a:schemeClr val="lt1"/>
                  </a:solidFill>
                  <a:latin typeface="Tw Cen MT"/>
                </a:rPr>
                <a:t>CNN extracts meaningful features for classification</a:t>
              </a:r>
              <a:endParaRPr b="0" lang="en-US" sz="2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2" name=""/>
            <p:cNvSpPr/>
            <p:nvPr/>
          </p:nvSpPr>
          <p:spPr>
            <a:xfrm>
              <a:off x="1024200" y="5352840"/>
              <a:ext cx="4654800" cy="941760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</a:schemeClr>
            </a:solidFill>
            <a:ln>
              <a:solidFill>
                <a:srgbClr val="ffffff"/>
              </a:solidFill>
              <a:round/>
            </a:ln>
          </p:spPr>
          <p:style>
            <a:lnRef idx="2"/>
            <a:fillRef idx="0"/>
            <a:effectRef idx="0"/>
            <a:fontRef idx="minor"/>
          </p:style>
          <p:txBody>
            <a:bodyPr numCol="1" spcCol="1440" lIns="99000" rIns="99000" tIns="99000" bIns="99000" anchor="ctr">
              <a:noAutofit/>
            </a:bodyPr>
            <a:p>
              <a:pPr defTabSz="1155600">
                <a:lnSpc>
                  <a:spcPct val="90000"/>
                </a:lnSpc>
                <a:spcAft>
                  <a:spcPts val="910"/>
                </a:spcAft>
                <a:tabLst>
                  <a:tab algn="l" pos="0"/>
                </a:tabLst>
              </a:pPr>
              <a:r>
                <a:rPr b="0" lang="en-US" sz="2600" spc="-1" strike="noStrike">
                  <a:solidFill>
                    <a:schemeClr val="lt1"/>
                  </a:solidFill>
                  <a:latin typeface="Tw Cen MT"/>
                </a:rPr>
                <a:t>Improves robustness before deep learning process</a:t>
              </a:r>
              <a:endParaRPr b="0" lang="en-US" sz="26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33" name="Rectangl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3280" y="0"/>
            <a:ext cx="6104160" cy="68565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sp>
        <p:nvSpPr>
          <p:cNvPr id="134" name="Rectangl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5120" y="321840"/>
            <a:ext cx="3931200" cy="3660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pic>
        <p:nvPicPr>
          <p:cNvPr id="135" name="Picture 6" descr=""/>
          <p:cNvPicPr/>
          <p:nvPr/>
        </p:nvPicPr>
        <p:blipFill>
          <a:blip r:embed="rId1"/>
          <a:stretch/>
        </p:blipFill>
        <p:spPr>
          <a:xfrm>
            <a:off x="6729120" y="484200"/>
            <a:ext cx="3282480" cy="3336120"/>
          </a:xfrm>
          <a:prstGeom prst="rect">
            <a:avLst/>
          </a:prstGeom>
          <a:ln w="0">
            <a:noFill/>
          </a:ln>
        </p:spPr>
      </p:pic>
      <p:sp>
        <p:nvSpPr>
          <p:cNvPr id="136" name="Rectangl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509120" y="321840"/>
            <a:ext cx="1351080" cy="3666960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sp>
        <p:nvSpPr>
          <p:cNvPr id="137" name="Rectangl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5120" y="4157280"/>
            <a:ext cx="2103480" cy="2310840"/>
          </a:xfrm>
          <a:prstGeom prst="rect">
            <a:avLst/>
          </a:prstGeom>
          <a:solidFill>
            <a:schemeClr val="accent2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sp>
        <p:nvSpPr>
          <p:cNvPr id="138" name="Rectangle 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70600" y="4157280"/>
            <a:ext cx="3205440" cy="2310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pic>
        <p:nvPicPr>
          <p:cNvPr id="139" name="Picture 4" descr=""/>
          <p:cNvPicPr/>
          <p:nvPr/>
        </p:nvPicPr>
        <p:blipFill>
          <a:blip r:embed="rId2"/>
          <a:stretch/>
        </p:blipFill>
        <p:spPr>
          <a:xfrm>
            <a:off x="8833680" y="4377600"/>
            <a:ext cx="2878920" cy="1870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0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0680" cy="68565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sp>
        <p:nvSpPr>
          <p:cNvPr id="141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653000" cy="6856560"/>
          </a:xfrm>
          <a:prstGeom prst="rect">
            <a:avLst/>
          </a:prstGeom>
          <a:solidFill>
            <a:srgbClr val="99cb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964800" y="804240"/>
            <a:ext cx="3390480" cy="524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4000" spc="89" strike="noStrike" cap="all">
                <a:solidFill>
                  <a:srgbClr val="ffffff"/>
                </a:solidFill>
                <a:latin typeface="Tw Cen MT Condensed"/>
              </a:rPr>
              <a:t>Dataset overview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4951080" y="804240"/>
            <a:ext cx="6304680" cy="52477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ctr">
            <a:norm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Tw Cen MT"/>
              <a:buChar char=" "/>
            </a:pPr>
            <a:r>
              <a:rPr b="1" lang="en-US" sz="1700" spc="-1" strike="noStrike">
                <a:solidFill>
                  <a:schemeClr val="dk1"/>
                </a:solidFill>
                <a:latin typeface="Tw Cen MT"/>
              </a:rPr>
              <a:t>Dataset contains images of different Jordanian coin denominations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Tw Cen MT"/>
              <a:buChar char=" "/>
            </a:pPr>
            <a:r>
              <a:rPr b="0" lang="en-US" sz="1700" spc="-1" strike="noStrike">
                <a:solidFill>
                  <a:schemeClr val="dk1"/>
                </a:solidFill>
                <a:latin typeface="Tw Cen MT"/>
              </a:rPr>
              <a:t>images show coins under different: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Wingdings" charset="2"/>
              <a:buChar char=""/>
            </a:pPr>
            <a:r>
              <a:rPr b="0" lang="en-US" sz="1700" spc="-1" strike="noStrike">
                <a:solidFill>
                  <a:schemeClr val="dk1"/>
                </a:solidFill>
                <a:latin typeface="Tw Cen MT"/>
              </a:rPr>
              <a:t> </a:t>
            </a:r>
            <a:r>
              <a:rPr b="0" lang="en-US" sz="1700" spc="-1" strike="noStrike">
                <a:solidFill>
                  <a:schemeClr val="dk1"/>
                </a:solidFill>
                <a:latin typeface="Tw Cen MT"/>
              </a:rPr>
              <a:t>Lighting conditions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Wingdings" charset="2"/>
              <a:buChar char=""/>
            </a:pPr>
            <a:r>
              <a:rPr b="0" lang="en-US" sz="1700" spc="-1" strike="noStrike">
                <a:solidFill>
                  <a:schemeClr val="dk1"/>
                </a:solidFill>
                <a:latin typeface="Tw Cen MT"/>
              </a:rPr>
              <a:t> </a:t>
            </a:r>
            <a:r>
              <a:rPr b="0" lang="en-US" sz="1700" spc="-1" strike="noStrike">
                <a:solidFill>
                  <a:schemeClr val="dk1"/>
                </a:solidFill>
                <a:latin typeface="Tw Cen MT"/>
              </a:rPr>
              <a:t>Angles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Wingdings" charset="2"/>
              <a:buChar char=""/>
            </a:pPr>
            <a:r>
              <a:rPr b="0" lang="en-US" sz="1700" spc="-1" strike="noStrike">
                <a:solidFill>
                  <a:schemeClr val="dk1"/>
                </a:solidFill>
                <a:latin typeface="Tw Cen MT"/>
              </a:rPr>
              <a:t> </a:t>
            </a:r>
            <a:r>
              <a:rPr b="0" lang="en-US" sz="1700" spc="-1" strike="noStrike">
                <a:solidFill>
                  <a:schemeClr val="dk1"/>
                </a:solidFill>
                <a:latin typeface="Tw Cen MT"/>
              </a:rPr>
              <a:t>Backgrounds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chemeClr val="dk1"/>
                </a:solidFill>
                <a:latin typeface="Tw Cen MT"/>
              </a:rPr>
              <a:t> </a:t>
            </a:r>
            <a:r>
              <a:rPr b="0" lang="en-US" sz="1700" spc="-1" strike="noStrike">
                <a:solidFill>
                  <a:schemeClr val="dk1"/>
                </a:solidFill>
                <a:latin typeface="Tw Cen MT"/>
              </a:rPr>
              <a:t>and the data is labeled as: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lang="en-US" sz="1700" spc="-1" strike="noStrike">
                <a:solidFill>
                  <a:schemeClr val="dk1"/>
                </a:solidFill>
                <a:latin typeface="Tw Cen MT"/>
              </a:rPr>
              <a:t> </a:t>
            </a:r>
            <a:r>
              <a:rPr b="0" lang="en-US" sz="1700" spc="-1" strike="noStrike">
                <a:solidFill>
                  <a:schemeClr val="dk1"/>
                </a:solidFill>
                <a:latin typeface="Tw Cen MT"/>
              </a:rPr>
              <a:t>½ dinar 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lang="en-US" sz="1700" spc="-1" strike="noStrike">
                <a:solidFill>
                  <a:schemeClr val="dk1"/>
                </a:solidFill>
                <a:latin typeface="Tw Cen MT"/>
              </a:rPr>
              <a:t> </a:t>
            </a:r>
            <a:r>
              <a:rPr b="0" lang="en-US" sz="1700" spc="-1" strike="noStrike">
                <a:solidFill>
                  <a:schemeClr val="dk1"/>
                </a:solidFill>
                <a:latin typeface="Tw Cen MT"/>
              </a:rPr>
              <a:t>¼ dinar 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lang="en-US" sz="1700" spc="-1" strike="noStrike">
                <a:solidFill>
                  <a:schemeClr val="dk1"/>
                </a:solidFill>
                <a:latin typeface="Tw Cen MT"/>
              </a:rPr>
              <a:t>10 piasters 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lang="en-US" sz="1700" spc="-1" strike="noStrike">
                <a:solidFill>
                  <a:schemeClr val="dk1"/>
                </a:solidFill>
                <a:latin typeface="Tw Cen MT"/>
              </a:rPr>
              <a:t>5 piasters 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chemeClr val="dk1"/>
                </a:solidFill>
                <a:latin typeface="Tw Cen MT"/>
              </a:rPr>
              <a:t>   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angl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97720" y="484560"/>
            <a:ext cx="7793280" cy="3503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sp>
        <p:nvSpPr>
          <p:cNvPr id="145" name="Rectangle 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94120" y="4150440"/>
            <a:ext cx="7796880" cy="22183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4685040" y="4390920"/>
            <a:ext cx="6684120" cy="1737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5000" spc="89" strike="noStrike" cap="all">
                <a:solidFill>
                  <a:schemeClr val="dk1">
                    <a:lumMod val="95000"/>
                    <a:lumOff val="5000"/>
                  </a:schemeClr>
                </a:solidFill>
                <a:latin typeface="Tw Cen MT Condensed"/>
              </a:rPr>
              <a:t>Dataset challenges 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7" name="Picture 4" descr=""/>
          <p:cNvPicPr/>
          <p:nvPr/>
        </p:nvPicPr>
        <p:blipFill>
          <a:blip r:embed="rId1"/>
          <a:srcRect l="18912" t="0" r="28492" b="0"/>
          <a:stretch/>
        </p:blipFill>
        <p:spPr>
          <a:xfrm>
            <a:off x="484560" y="484560"/>
            <a:ext cx="3247200" cy="3503520"/>
          </a:xfrm>
          <a:prstGeom prst="rect">
            <a:avLst/>
          </a:prstGeom>
          <a:ln w="0">
            <a:noFill/>
          </a:ln>
        </p:spPr>
      </p:pic>
      <p:sp>
        <p:nvSpPr>
          <p:cNvPr id="148" name="PlaceHolder 2"/>
          <p:cNvSpPr>
            <a:spLocks noGrp="1"/>
          </p:cNvSpPr>
          <p:nvPr>
            <p:ph/>
          </p:nvPr>
        </p:nvSpPr>
        <p:spPr>
          <a:xfrm>
            <a:off x="4219920" y="804960"/>
            <a:ext cx="7149240" cy="28699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Arial"/>
              <a:buChar char="•"/>
            </a:pPr>
            <a:r>
              <a:rPr b="0" lang="en-US" sz="2200" spc="-1" strike="noStrike">
                <a:solidFill>
                  <a:srgbClr val="ffffff"/>
                </a:solidFill>
                <a:latin typeface="Tw Cen MT"/>
              </a:rPr>
              <a:t> </a:t>
            </a:r>
            <a:r>
              <a:rPr b="0" lang="en-US" sz="2200" spc="-1" strike="noStrike">
                <a:solidFill>
                  <a:srgbClr val="ffffff"/>
                </a:solidFill>
                <a:latin typeface="Tw Cen MT"/>
              </a:rPr>
              <a:t>Images contained </a:t>
            </a:r>
            <a:r>
              <a:rPr b="0" lang="en-US" sz="2200" spc="-1" strike="noStrike" u="sng">
                <a:solidFill>
                  <a:srgbClr val="ffffff"/>
                </a:solidFill>
                <a:uFillTx/>
                <a:latin typeface="Tw Cen MT"/>
              </a:rPr>
              <a:t>multiple coins in a single frame</a:t>
            </a:r>
            <a:r>
              <a:rPr b="0" lang="en-US" sz="2200" spc="-1" strike="noStrike">
                <a:solidFill>
                  <a:srgbClr val="ffffff"/>
                </a:solidFill>
                <a:latin typeface="Tw Cen MT"/>
              </a:rPr>
              <a:t>. 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Arial"/>
              <a:buChar char="•"/>
            </a:pPr>
            <a:r>
              <a:rPr b="0" lang="en-US" sz="2200" spc="-1" strike="noStrike">
                <a:solidFill>
                  <a:srgbClr val="ffffff"/>
                </a:solidFill>
                <a:latin typeface="Tw Cen MT"/>
              </a:rPr>
              <a:t> </a:t>
            </a:r>
            <a:r>
              <a:rPr b="0" lang="en-US" sz="2200" spc="-1" strike="noStrike">
                <a:solidFill>
                  <a:srgbClr val="ffffff"/>
                </a:solidFill>
                <a:latin typeface="Tw Cen MT"/>
              </a:rPr>
              <a:t>Presence of </a:t>
            </a:r>
            <a:r>
              <a:rPr b="1" i="1" lang="en-US" sz="2200" spc="-1" strike="noStrike">
                <a:solidFill>
                  <a:srgbClr val="ffffff"/>
                </a:solidFill>
                <a:latin typeface="Tw Cen MT"/>
              </a:rPr>
              <a:t>irrelevant objects </a:t>
            </a:r>
            <a:r>
              <a:rPr b="0" lang="en-US" sz="2200" spc="-1" strike="noStrike">
                <a:solidFill>
                  <a:srgbClr val="ffffff"/>
                </a:solidFill>
                <a:latin typeface="Tw Cen MT"/>
              </a:rPr>
              <a:t>such as banknotes.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Arial"/>
              <a:buChar char="•"/>
            </a:pPr>
            <a:r>
              <a:rPr b="0" lang="en-US" sz="2200" spc="-1" strike="noStrike">
                <a:solidFill>
                  <a:srgbClr val="ffffff"/>
                </a:solidFill>
                <a:latin typeface="Tw Cen MT"/>
              </a:rPr>
              <a:t> </a:t>
            </a:r>
            <a:r>
              <a:rPr b="0" lang="en-US" sz="2200" spc="-1" strike="noStrike">
                <a:solidFill>
                  <a:srgbClr val="ffffff"/>
                </a:solidFill>
                <a:latin typeface="Tw Cen MT"/>
              </a:rPr>
              <a:t>Inconsistent lighting and backgrounds.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Arial"/>
              <a:buChar char="•"/>
            </a:pPr>
            <a:r>
              <a:rPr b="0" lang="en-US" sz="2200" spc="-1" strike="noStrike">
                <a:solidFill>
                  <a:srgbClr val="ffffff"/>
                </a:solidFill>
                <a:latin typeface="Tw Cen MT"/>
              </a:rPr>
              <a:t> </a:t>
            </a:r>
            <a:r>
              <a:rPr b="0" lang="en-US" sz="2200" spc="-1" strike="noStrike">
                <a:solidFill>
                  <a:srgbClr val="ffffff"/>
                </a:solidFill>
                <a:latin typeface="Tw Cen MT"/>
              </a:rPr>
              <a:t>Variations in coin orientation , scale and rotation.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Arial"/>
              <a:buChar char="•"/>
            </a:pPr>
            <a:r>
              <a:rPr b="0" lang="en-US" sz="2200" spc="-1" strike="noStrike">
                <a:solidFill>
                  <a:srgbClr val="ffffff"/>
                </a:solidFill>
                <a:latin typeface="Tw Cen MT"/>
              </a:rPr>
              <a:t> </a:t>
            </a:r>
            <a:r>
              <a:rPr b="0" lang="en-US" sz="2200" spc="-1" strike="noStrike">
                <a:solidFill>
                  <a:srgbClr val="ffffff"/>
                </a:solidFill>
                <a:latin typeface="Tw Cen MT"/>
              </a:rPr>
              <a:t>Images were not suitable for direct image analysis 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9" name="Picture 6" descr=""/>
          <p:cNvPicPr/>
          <p:nvPr/>
        </p:nvPicPr>
        <p:blipFill>
          <a:blip r:embed="rId2"/>
          <a:srcRect l="0" t="0" r="-6" b="1500"/>
          <a:stretch/>
        </p:blipFill>
        <p:spPr>
          <a:xfrm>
            <a:off x="484560" y="4150440"/>
            <a:ext cx="3247200" cy="2230200"/>
          </a:xfrm>
          <a:prstGeom prst="rect">
            <a:avLst/>
          </a:prstGeom>
          <a:ln w="0">
            <a:noFill/>
          </a:ln>
        </p:spPr>
      </p:pic>
      <p:cxnSp>
        <p:nvCxnSpPr>
          <p:cNvPr id="150" name="Straight Connecto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4422600" y="4803120"/>
            <a:ext cx="1440" cy="915840"/>
          </a:xfrm>
          <a:prstGeom prst="straightConnector1">
            <a:avLst/>
          </a:prstGeom>
          <a:ln w="19050">
            <a:solidFill>
              <a:srgbClr val="99cb38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97720" y="484560"/>
            <a:ext cx="7793280" cy="3503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sp>
        <p:nvSpPr>
          <p:cNvPr id="152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94120" y="4150440"/>
            <a:ext cx="7796880" cy="22183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4685040" y="4390920"/>
            <a:ext cx="6684120" cy="1737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5000" spc="89" strike="noStrike" cap="all">
                <a:solidFill>
                  <a:schemeClr val="dk1">
                    <a:lumMod val="95000"/>
                    <a:lumOff val="5000"/>
                  </a:schemeClr>
                </a:solidFill>
                <a:latin typeface="Tw Cen MT Condensed"/>
              </a:rPr>
              <a:t>Dataset challenges 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54" name="Straight Connector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4422600" y="4803120"/>
            <a:ext cx="1440" cy="915840"/>
          </a:xfrm>
          <a:prstGeom prst="straightConnector1">
            <a:avLst/>
          </a:prstGeom>
          <a:ln w="19050">
            <a:solidFill>
              <a:srgbClr val="99cb38"/>
            </a:solidFill>
            <a:round/>
          </a:ln>
        </p:spPr>
      </p:cxnSp>
      <p:pic>
        <p:nvPicPr>
          <p:cNvPr id="155" name="" descr=""/>
          <p:cNvPicPr/>
          <p:nvPr/>
        </p:nvPicPr>
        <p:blipFill>
          <a:blip r:embed="rId1"/>
          <a:stretch/>
        </p:blipFill>
        <p:spPr>
          <a:xfrm>
            <a:off x="634320" y="280080"/>
            <a:ext cx="3708000" cy="3708000"/>
          </a:xfrm>
          <a:prstGeom prst="rect">
            <a:avLst/>
          </a:prstGeom>
          <a:ln w="0">
            <a:noFill/>
          </a:ln>
        </p:spPr>
      </p:pic>
      <p:pic>
        <p:nvPicPr>
          <p:cNvPr id="156" name="" descr=""/>
          <p:cNvPicPr/>
          <p:nvPr/>
        </p:nvPicPr>
        <p:blipFill>
          <a:blip r:embed="rId2"/>
          <a:stretch/>
        </p:blipFill>
        <p:spPr>
          <a:xfrm>
            <a:off x="4800600" y="685800"/>
            <a:ext cx="2333520" cy="1359000"/>
          </a:xfrm>
          <a:prstGeom prst="rect">
            <a:avLst/>
          </a:prstGeom>
          <a:ln w="0">
            <a:noFill/>
          </a:ln>
        </p:spPr>
      </p:pic>
      <p:pic>
        <p:nvPicPr>
          <p:cNvPr id="157" name="" descr=""/>
          <p:cNvPicPr/>
          <p:nvPr/>
        </p:nvPicPr>
        <p:blipFill>
          <a:blip r:embed="rId3"/>
          <a:stretch/>
        </p:blipFill>
        <p:spPr>
          <a:xfrm>
            <a:off x="4800600" y="2143440"/>
            <a:ext cx="2322720" cy="1741680"/>
          </a:xfrm>
          <a:prstGeom prst="rect">
            <a:avLst/>
          </a:prstGeom>
          <a:ln w="0">
            <a:noFill/>
          </a:ln>
        </p:spPr>
      </p:pic>
      <p:pic>
        <p:nvPicPr>
          <p:cNvPr id="158" name="" descr=""/>
          <p:cNvPicPr/>
          <p:nvPr/>
        </p:nvPicPr>
        <p:blipFill>
          <a:blip r:embed="rId4"/>
          <a:stretch/>
        </p:blipFill>
        <p:spPr>
          <a:xfrm>
            <a:off x="8171280" y="2514600"/>
            <a:ext cx="1886040" cy="1473480"/>
          </a:xfrm>
          <a:prstGeom prst="rect">
            <a:avLst/>
          </a:prstGeom>
          <a:ln w="0">
            <a:noFill/>
          </a:ln>
        </p:spPr>
      </p:pic>
      <p:pic>
        <p:nvPicPr>
          <p:cNvPr id="159" name="" descr=""/>
          <p:cNvPicPr/>
          <p:nvPr/>
        </p:nvPicPr>
        <p:blipFill>
          <a:blip r:embed="rId5"/>
          <a:stretch/>
        </p:blipFill>
        <p:spPr>
          <a:xfrm>
            <a:off x="8001000" y="685800"/>
            <a:ext cx="1846440" cy="161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0" name="Rectangle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0680" cy="68565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5951880" y="585360"/>
            <a:ext cx="5739120" cy="149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5000"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5000" spc="89" strike="noStrike" cap="all">
                <a:solidFill>
                  <a:schemeClr val="dk1">
                    <a:lumMod val="95000"/>
                    <a:lumOff val="5000"/>
                  </a:schemeClr>
                </a:solidFill>
                <a:latin typeface="Tw Cen MT Condensed"/>
              </a:rPr>
              <a:t>HOW THOSE CHALLENGES WERE OVERCOME 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2" name="Picture 5" descr=""/>
          <p:cNvPicPr/>
          <p:nvPr/>
        </p:nvPicPr>
        <p:blipFill>
          <a:blip r:embed="rId1"/>
          <a:stretch/>
        </p:blipFill>
        <p:spPr>
          <a:xfrm>
            <a:off x="1468800" y="484560"/>
            <a:ext cx="2544840" cy="3510360"/>
          </a:xfrm>
          <a:prstGeom prst="rect">
            <a:avLst/>
          </a:prstGeom>
          <a:ln w="0">
            <a:noFill/>
          </a:ln>
        </p:spPr>
      </p:pic>
      <p:sp>
        <p:nvSpPr>
          <p:cNvPr id="163" name="Rectangl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75640" y="484560"/>
            <a:ext cx="803160" cy="3510360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cxnSp>
        <p:nvCxnSpPr>
          <p:cNvPr id="164" name="Straight Connector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5689440" y="826200"/>
            <a:ext cx="1440" cy="915840"/>
          </a:xfrm>
          <a:prstGeom prst="straightConnector1">
            <a:avLst/>
          </a:prstGeom>
          <a:ln w="19050">
            <a:solidFill>
              <a:srgbClr val="99cb38"/>
            </a:solidFill>
            <a:round/>
          </a:ln>
        </p:spPr>
      </p:cxnSp>
      <p:sp>
        <p:nvSpPr>
          <p:cNvPr id="165" name="Rectangl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7240" y="4150440"/>
            <a:ext cx="475920" cy="22302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pic>
        <p:nvPicPr>
          <p:cNvPr id="166" name="Picture 4" descr=""/>
          <p:cNvPicPr/>
          <p:nvPr/>
        </p:nvPicPr>
        <p:blipFill>
          <a:blip r:embed="rId2"/>
          <a:stretch/>
        </p:blipFill>
        <p:spPr>
          <a:xfrm>
            <a:off x="1688760" y="4150440"/>
            <a:ext cx="3233160" cy="2230200"/>
          </a:xfrm>
          <a:prstGeom prst="rect">
            <a:avLst/>
          </a:prstGeom>
          <a:ln w="0">
            <a:noFill/>
          </a:ln>
        </p:spPr>
      </p:pic>
      <p:sp>
        <p:nvSpPr>
          <p:cNvPr id="167" name="PlaceHolder 2"/>
          <p:cNvSpPr>
            <a:spLocks noGrp="1"/>
          </p:cNvSpPr>
          <p:nvPr>
            <p:ph/>
          </p:nvPr>
        </p:nvSpPr>
        <p:spPr>
          <a:xfrm>
            <a:off x="5951880" y="2286000"/>
            <a:ext cx="5739120" cy="40219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fontScale="87222" lnSpcReduction="10000"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Tw Cen MT"/>
              <a:buChar char=" "/>
            </a:pPr>
            <a:r>
              <a:rPr b="1" i="1" lang="en-US" sz="2200" spc="-1" strike="noStrike" u="sng">
                <a:solidFill>
                  <a:schemeClr val="dk1"/>
                </a:solidFill>
                <a:uFillTx/>
                <a:latin typeface="Tw Cen MT"/>
              </a:rPr>
              <a:t>Image Preprocessing Pipeline : The following image preprocessing methods were used on the images: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Tw Cen MT Condensed"/>
              <a:buAutoNum type="arabicPeriod"/>
            </a:pP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Detected Coins, used annotations of the dataset, Image detection and segmentation proved inefficient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Tw Cen MT Condensed"/>
              <a:buAutoNum type="arabicPeriod"/>
            </a:pP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Cropped individual coins from images in dataset containing multiple coins.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Tw Cen MT Condensed"/>
              <a:buAutoNum type="arabicPeriod"/>
            </a:pP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Removed irrelevant classes to keep only coin denominations.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Tw Cen MT Condensed"/>
              <a:buAutoNum type="arabicPeriod"/>
            </a:pP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Normalized image sizes to </a:t>
            </a:r>
            <a:r>
              <a:rPr b="1" lang="en-US" sz="2200" spc="-1" strike="noStrike">
                <a:solidFill>
                  <a:schemeClr val="dk1"/>
                </a:solidFill>
                <a:latin typeface="Tw Cen MT"/>
              </a:rPr>
              <a:t>224 x 224 RGB </a:t>
            </a: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for CNN compatibility.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Tw Cen MT Condensed"/>
              <a:buAutoNum type="arabicPeriod"/>
            </a:pP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Standardized image format. 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8560" cy="149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5000" spc="89" strike="noStrike" cap="all">
                <a:solidFill>
                  <a:schemeClr val="dk1">
                    <a:lumMod val="95000"/>
                    <a:lumOff val="5000"/>
                  </a:schemeClr>
                </a:solidFill>
                <a:latin typeface="Tw Cen MT Condensed"/>
              </a:rPr>
              <a:t>Image system overview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69" name="Diagram 2"/>
          <p:cNvGrpSpPr/>
          <p:nvPr/>
        </p:nvGrpSpPr>
        <p:grpSpPr>
          <a:xfrm>
            <a:off x="1023840" y="2286000"/>
            <a:ext cx="9718920" cy="4021200"/>
            <a:chOff x="1023840" y="2286000"/>
            <a:chExt cx="9718920" cy="4021200"/>
          </a:xfrm>
        </p:grpSpPr>
        <p:sp>
          <p:nvSpPr>
            <p:cNvPr id="170" name=""/>
            <p:cNvSpPr/>
            <p:nvPr/>
          </p:nvSpPr>
          <p:spPr>
            <a:xfrm>
              <a:off x="1023840" y="2286000"/>
              <a:ext cx="9718920" cy="4021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1" name=""/>
            <p:cNvSpPr/>
            <p:nvPr/>
          </p:nvSpPr>
          <p:spPr>
            <a:xfrm>
              <a:off x="1024920" y="2755080"/>
              <a:ext cx="4163760" cy="2643480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</a:schemeClr>
            </a:solidFill>
            <a:ln>
              <a:solidFill>
                <a:srgbClr val="ffffff"/>
              </a:solidFill>
              <a:round/>
            </a:ln>
          </p:spPr>
          <p:style>
            <a:lnRef idx="2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2" name=""/>
            <p:cNvSpPr/>
            <p:nvPr/>
          </p:nvSpPr>
          <p:spPr>
            <a:xfrm>
              <a:off x="1487880" y="3195000"/>
              <a:ext cx="4163760" cy="2643480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90000"/>
                <a:hueOff val="0"/>
                <a:satOff val="0"/>
                <a:lumOff val="0"/>
                <a:alphaOff val="0"/>
              </a:schemeClr>
            </a:solidFill>
            <a:ln>
              <a:solidFill>
                <a:srgbClr val="99cb38"/>
              </a:solidFill>
              <a:round/>
            </a:ln>
          </p:spPr>
          <p:style>
            <a:lnRef idx="2"/>
            <a:fillRef idx="0"/>
            <a:effectRef idx="0"/>
            <a:fontRef idx="minor"/>
          </p:style>
          <p:txBody>
            <a:bodyPr numCol="1" spcCol="1440" lIns="133200" rIns="133200" tIns="133200" bIns="133200" anchor="ctr">
              <a:noAutofit/>
            </a:bodyPr>
            <a:p>
              <a:pPr algn="ctr" defTabSz="1555920">
                <a:lnSpc>
                  <a:spcPct val="90000"/>
                </a:lnSpc>
                <a:spcAft>
                  <a:spcPts val="1225"/>
                </a:spcAft>
                <a:tabLst>
                  <a:tab algn="l" pos="0"/>
                </a:tabLst>
              </a:pPr>
              <a:r>
                <a:rPr b="0" lang="en-US" sz="3500" spc="-1" strike="noStrike">
                  <a:solidFill>
                    <a:srgbClr val="000000"/>
                  </a:solidFill>
                  <a:latin typeface="Tw Cen MT"/>
                </a:rPr>
                <a:t>Image classification</a:t>
              </a:r>
              <a:endParaRPr b="0" lang="en-US" sz="35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3" name=""/>
            <p:cNvSpPr/>
            <p:nvPr/>
          </p:nvSpPr>
          <p:spPr>
            <a:xfrm>
              <a:off x="6115320" y="2755080"/>
              <a:ext cx="4163760" cy="2643480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</a:schemeClr>
            </a:solidFill>
            <a:ln>
              <a:solidFill>
                <a:srgbClr val="ffffff"/>
              </a:solidFill>
              <a:round/>
            </a:ln>
          </p:spPr>
          <p:style>
            <a:lnRef idx="2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4" name=""/>
            <p:cNvSpPr/>
            <p:nvPr/>
          </p:nvSpPr>
          <p:spPr>
            <a:xfrm>
              <a:off x="6578280" y="3195000"/>
              <a:ext cx="4163760" cy="2643480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90000"/>
                <a:hueOff val="0"/>
                <a:satOff val="0"/>
                <a:lumOff val="0"/>
                <a:alphaOff val="0"/>
              </a:schemeClr>
            </a:solidFill>
            <a:ln>
              <a:solidFill>
                <a:srgbClr val="99cb38"/>
              </a:solidFill>
              <a:round/>
            </a:ln>
          </p:spPr>
          <p:style>
            <a:lnRef idx="2"/>
            <a:fillRef idx="0"/>
            <a:effectRef idx="0"/>
            <a:fontRef idx="minor"/>
          </p:style>
          <p:txBody>
            <a:bodyPr numCol="1" spcCol="1440" lIns="133200" rIns="133200" tIns="133200" bIns="133200" anchor="ctr">
              <a:noAutofit/>
            </a:bodyPr>
            <a:p>
              <a:pPr algn="ctr" defTabSz="1555920">
                <a:lnSpc>
                  <a:spcPct val="90000"/>
                </a:lnSpc>
                <a:spcAft>
                  <a:spcPts val="1225"/>
                </a:spcAft>
                <a:tabLst>
                  <a:tab algn="l" pos="0"/>
                </a:tabLst>
              </a:pPr>
              <a:r>
                <a:rPr b="0" lang="en-US" sz="3500" spc="-1" strike="noStrike">
                  <a:solidFill>
                    <a:srgbClr val="000000"/>
                  </a:solidFill>
                  <a:latin typeface="Tw Cen MT"/>
                </a:rPr>
                <a:t>Image segmentation</a:t>
              </a:r>
              <a:endParaRPr b="0" lang="en-US" sz="35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8560" cy="149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5000" spc="89" strike="noStrike" cap="all">
                <a:solidFill>
                  <a:schemeClr val="dk1">
                    <a:lumMod val="95000"/>
                    <a:lumOff val="5000"/>
                  </a:schemeClr>
                </a:solidFill>
                <a:latin typeface="Tw Cen MT Condensed"/>
              </a:rPr>
              <a:t>CNN model architecture 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/>
          </p:nvPr>
        </p:nvSpPr>
        <p:spPr>
          <a:xfrm>
            <a:off x="1024200" y="2286000"/>
            <a:ext cx="9718560" cy="40219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fontScale="40000"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Arial"/>
              <a:buChar char="•"/>
            </a:pPr>
            <a:r>
              <a:rPr b="0" lang="en-US" sz="4000" spc="-1" strike="noStrike">
                <a:solidFill>
                  <a:schemeClr val="dk1"/>
                </a:solidFill>
                <a:latin typeface="Tw Cen MT"/>
              </a:rPr>
              <a:t> </a:t>
            </a:r>
            <a:r>
              <a:rPr b="0" lang="en-US" sz="4000" spc="-1" strike="noStrike">
                <a:solidFill>
                  <a:schemeClr val="dk1"/>
                </a:solidFill>
                <a:latin typeface="Tw Cen MT"/>
              </a:rPr>
              <a:t>Input (224 x 224 x 3)  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Arial"/>
              <a:buChar char="•"/>
            </a:pPr>
            <a:r>
              <a:rPr b="0" lang="en-US" sz="4000" spc="-1" strike="noStrike">
                <a:solidFill>
                  <a:schemeClr val="dk1"/>
                </a:solidFill>
                <a:latin typeface="Tw Cen MT"/>
              </a:rPr>
              <a:t> </a:t>
            </a:r>
            <a:r>
              <a:rPr b="0" lang="en-US" sz="4000" spc="-1" strike="noStrike">
                <a:solidFill>
                  <a:schemeClr val="dk1"/>
                </a:solidFill>
                <a:latin typeface="Tw Cen MT"/>
              </a:rPr>
              <a:t>preprocess_input  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Arial"/>
              <a:buChar char="•"/>
            </a:pPr>
            <a:r>
              <a:rPr b="0" lang="en-US" sz="4000" spc="-1" strike="noStrike">
                <a:solidFill>
                  <a:schemeClr val="dk1"/>
                </a:solidFill>
                <a:latin typeface="Tw Cen MT"/>
              </a:rPr>
              <a:t> </a:t>
            </a:r>
            <a:r>
              <a:rPr b="0" lang="en-US" sz="4000" spc="-1" strike="noStrike">
                <a:solidFill>
                  <a:schemeClr val="dk1"/>
                </a:solidFill>
                <a:latin typeface="Tw Cen MT"/>
              </a:rPr>
              <a:t>MobileNetV2 </a:t>
            </a:r>
            <a:r>
              <a:rPr b="1" lang="en-US" sz="4000" spc="-1" strike="noStrike">
                <a:solidFill>
                  <a:schemeClr val="dk1"/>
                </a:solidFill>
                <a:latin typeface="Tw Cen MT"/>
              </a:rPr>
              <a:t>(Feature extraction) 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4000" spc="-1" strike="noStrike">
                <a:solidFill>
                  <a:schemeClr val="dk1"/>
                </a:solidFill>
                <a:latin typeface="Tw Cen MT"/>
              </a:rPr>
              <a:t>MobileNetV2 is a fast, lightweight CNN that uses inverted residual blocks and depthwise separable convolutions to give high accuracy with very low computation, making it ideal as a backbone of the model.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Arial"/>
              <a:buChar char="•"/>
            </a:pPr>
            <a:r>
              <a:rPr b="0" lang="en-US" sz="4000" spc="-1" strike="noStrike">
                <a:solidFill>
                  <a:schemeClr val="dk1"/>
                </a:solidFill>
                <a:latin typeface="Tw Cen MT"/>
              </a:rPr>
              <a:t> </a:t>
            </a:r>
            <a:r>
              <a:rPr b="0" lang="en-US" sz="4000" spc="-1" strike="noStrike">
                <a:solidFill>
                  <a:schemeClr val="dk1"/>
                </a:solidFill>
                <a:latin typeface="Tw Cen MT"/>
              </a:rPr>
              <a:t>GlobalAvgPool2D 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Arial"/>
              <a:buChar char="•"/>
            </a:pPr>
            <a:r>
              <a:rPr b="0" lang="en-US" sz="4000" spc="-1" strike="noStrike">
                <a:solidFill>
                  <a:schemeClr val="dk1"/>
                </a:solidFill>
                <a:latin typeface="Tw Cen MT"/>
              </a:rPr>
              <a:t> </a:t>
            </a:r>
            <a:r>
              <a:rPr b="0" lang="en-US" sz="4000" spc="-1" strike="noStrike">
                <a:solidFill>
                  <a:schemeClr val="dk1"/>
                </a:solidFill>
                <a:latin typeface="Tw Cen MT"/>
              </a:rPr>
              <a:t>Dense( 128, relu activation)  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Arial"/>
              <a:buChar char="•"/>
            </a:pPr>
            <a:r>
              <a:rPr b="0" lang="en-US" sz="4000" spc="-1" strike="noStrike">
                <a:solidFill>
                  <a:schemeClr val="dk1"/>
                </a:solidFill>
                <a:latin typeface="Tw Cen MT"/>
              </a:rPr>
              <a:t> </a:t>
            </a:r>
            <a:r>
              <a:rPr b="0" lang="en-US" sz="4000" spc="-1" strike="noStrike">
                <a:solidFill>
                  <a:schemeClr val="dk1"/>
                </a:solidFill>
                <a:latin typeface="Tw Cen MT"/>
              </a:rPr>
              <a:t>Dense( 4, softmax activation)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4000" spc="-1" strike="noStrike">
                <a:solidFill>
                  <a:schemeClr val="dk1"/>
                </a:solidFill>
                <a:latin typeface="Tw Cen MT"/>
              </a:rPr>
              <a:t>This is shown in the code snippets in the upcoming slides.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8560" cy="149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5000" spc="89" strike="noStrike" cap="all">
                <a:solidFill>
                  <a:schemeClr val="dk1">
                    <a:lumMod val="95000"/>
                    <a:lumOff val="5000"/>
                  </a:schemeClr>
                </a:solidFill>
                <a:latin typeface="Tw Cen MT Condensed"/>
              </a:rPr>
              <a:t>NEURONS , FILTER AND POOLING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914400" y="2743200"/>
            <a:ext cx="1370520" cy="1370520"/>
          </a:xfrm>
          <a:prstGeom prst="ellipse">
            <a:avLst/>
          </a:prstGeom>
          <a:solidFill>
            <a:srgbClr val="99cb38"/>
          </a:solidFill>
          <a:ln w="0">
            <a:solidFill>
              <a:srgbClr val="99cb3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Input Image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3429000" y="2743200"/>
            <a:ext cx="2056320" cy="1141920"/>
          </a:xfrm>
          <a:prstGeom prst="ellipse">
            <a:avLst/>
          </a:prstGeom>
          <a:solidFill>
            <a:srgbClr val="99cb38"/>
          </a:solidFill>
          <a:ln w="0">
            <a:solidFill>
              <a:srgbClr val="99cb3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Pre-process Input Layer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6400800" y="2743200"/>
            <a:ext cx="2056320" cy="1370520"/>
          </a:xfrm>
          <a:prstGeom prst="ellipse">
            <a:avLst/>
          </a:prstGeom>
          <a:solidFill>
            <a:srgbClr val="99cb38"/>
          </a:solidFill>
          <a:ln w="0">
            <a:solidFill>
              <a:srgbClr val="99cb3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MobileNetv2 Base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9372600" y="2743200"/>
            <a:ext cx="1827720" cy="1370520"/>
          </a:xfrm>
          <a:prstGeom prst="ellipse">
            <a:avLst/>
          </a:prstGeom>
          <a:solidFill>
            <a:srgbClr val="99cb38"/>
          </a:solidFill>
          <a:ln w="0">
            <a:solidFill>
              <a:srgbClr val="99cb3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GlobalAvgPooling2D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3657600" y="4800600"/>
            <a:ext cx="1599120" cy="1141920"/>
          </a:xfrm>
          <a:prstGeom prst="ellipse">
            <a:avLst/>
          </a:prstGeom>
          <a:solidFill>
            <a:srgbClr val="99cb38"/>
          </a:solidFill>
          <a:ln w="0">
            <a:solidFill>
              <a:srgbClr val="99cb3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Dense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128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ReLU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7086600" y="4572000"/>
            <a:ext cx="1599120" cy="1370520"/>
          </a:xfrm>
          <a:prstGeom prst="ellipse">
            <a:avLst/>
          </a:prstGeom>
          <a:solidFill>
            <a:srgbClr val="99cb38"/>
          </a:solidFill>
          <a:ln w="0">
            <a:solidFill>
              <a:srgbClr val="99cb3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Output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Softmax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2286000" y="3429000"/>
            <a:ext cx="1143000" cy="360"/>
          </a:xfrm>
          <a:prstGeom prst="line">
            <a:avLst/>
          </a:prstGeom>
          <a:ln w="0">
            <a:solidFill>
              <a:srgbClr val="99cb38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"/>
          <p:cNvSpPr/>
          <p:nvPr/>
        </p:nvSpPr>
        <p:spPr>
          <a:xfrm>
            <a:off x="5486400" y="3429000"/>
            <a:ext cx="914400" cy="360"/>
          </a:xfrm>
          <a:prstGeom prst="line">
            <a:avLst/>
          </a:prstGeom>
          <a:ln w="0">
            <a:solidFill>
              <a:srgbClr val="99cb38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8458200" y="3429000"/>
            <a:ext cx="914400" cy="360"/>
          </a:xfrm>
          <a:prstGeom prst="line">
            <a:avLst/>
          </a:prstGeom>
          <a:ln w="0">
            <a:solidFill>
              <a:srgbClr val="99cb38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10287000" y="4114800"/>
            <a:ext cx="360" cy="228600"/>
          </a:xfrm>
          <a:prstGeom prst="line">
            <a:avLst/>
          </a:prstGeom>
          <a:ln w="0">
            <a:solidFill>
              <a:srgbClr val="99cb38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88" name=""/>
          <p:cNvCxnSpPr>
            <a:stCxn id="187" idx="2"/>
            <a:endCxn id="189" idx="1"/>
          </p:cNvCxnSpPr>
          <p:nvPr/>
        </p:nvCxnSpPr>
        <p:spPr>
          <a:xfrm flipV="1" rot="10800000">
            <a:off x="2751480" y="4343400"/>
            <a:ext cx="7535880" cy="23400"/>
          </a:xfrm>
          <a:prstGeom prst="bentConnector3">
            <a:avLst>
              <a:gd name="adj1" fmla="val 50000"/>
            </a:avLst>
          </a:prstGeom>
          <a:ln w="0">
            <a:solidFill>
              <a:srgbClr val="99cb38"/>
            </a:solidFill>
          </a:ln>
        </p:spPr>
      </p:cxnSp>
      <p:cxnSp>
        <p:nvCxnSpPr>
          <p:cNvPr id="190" name=""/>
          <p:cNvCxnSpPr/>
          <p:nvPr/>
        </p:nvCxnSpPr>
        <p:spPr>
          <a:xfrm flipH="1" flipV="1" rot="5400000">
            <a:off x="2316600" y="4799880"/>
            <a:ext cx="868320" cy="1440"/>
          </a:xfrm>
          <a:prstGeom prst="bentConnector3">
            <a:avLst>
              <a:gd name="adj1" fmla="val 0"/>
            </a:avLst>
          </a:prstGeom>
          <a:ln w="0">
            <a:solidFill>
              <a:srgbClr val="99cb38"/>
            </a:solidFill>
          </a:ln>
        </p:spPr>
      </p:cxnSp>
      <p:sp>
        <p:nvSpPr>
          <p:cNvPr id="191" name=""/>
          <p:cNvSpPr/>
          <p:nvPr/>
        </p:nvSpPr>
        <p:spPr>
          <a:xfrm>
            <a:off x="2750760" y="5233320"/>
            <a:ext cx="906840" cy="24480"/>
          </a:xfrm>
          <a:prstGeom prst="line">
            <a:avLst/>
          </a:prstGeom>
          <a:ln w="0">
            <a:solidFill>
              <a:srgbClr val="99cb38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20520" bIns="-205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"/>
          <p:cNvSpPr/>
          <p:nvPr/>
        </p:nvSpPr>
        <p:spPr>
          <a:xfrm>
            <a:off x="5257800" y="5257800"/>
            <a:ext cx="1828800" cy="360"/>
          </a:xfrm>
          <a:prstGeom prst="line">
            <a:avLst/>
          </a:prstGeom>
          <a:ln w="0">
            <a:solidFill>
              <a:srgbClr val="99cb38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8560" cy="149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5000" spc="89" strike="noStrike" cap="all">
                <a:solidFill>
                  <a:schemeClr val="dk1">
                    <a:lumMod val="95000"/>
                    <a:lumOff val="5000"/>
                  </a:schemeClr>
                </a:solidFill>
                <a:latin typeface="Tw Cen MT Condensed"/>
              </a:rPr>
              <a:t>Feature EXTRACTION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/>
          </p:nvPr>
        </p:nvSpPr>
        <p:spPr>
          <a:xfrm>
            <a:off x="1024200" y="2286000"/>
            <a:ext cx="9718560" cy="40219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Wingdings" charset="2"/>
              <a:buChar char=""/>
            </a:pP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 </a:t>
            </a: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Images pass through convolution layers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Wingdings" charset="2"/>
              <a:buChar char=""/>
            </a:pP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 </a:t>
            </a: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Filters detect: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  </a:t>
            </a: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1. Edges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  </a:t>
            </a: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2. Texture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  </a:t>
            </a: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3. Shapes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Wingdings" charset="2"/>
              <a:buChar char="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 </a:t>
            </a: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Feature maps highlight important regions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Wingdings" charset="2"/>
              <a:buChar char="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 </a:t>
            </a: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Extracted features used for classification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Rectangl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7600" y="4572000"/>
            <a:ext cx="7056720" cy="1962720"/>
          </a:xfrm>
          <a:prstGeom prst="rect">
            <a:avLst/>
          </a:prstGeom>
          <a:solidFill>
            <a:srgbClr val="3c56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524160" y="4767120"/>
            <a:ext cx="6592680" cy="162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5000" spc="89" strike="noStrike" cap="all">
                <a:solidFill>
                  <a:srgbClr val="ffffff"/>
                </a:solidFill>
                <a:latin typeface="Tw Cen MT Condensed"/>
              </a:rPr>
              <a:t>CNN architecture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Rectangl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34800" y="321840"/>
            <a:ext cx="4334040" cy="621324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pic>
        <p:nvPicPr>
          <p:cNvPr id="198" name="" descr=""/>
          <p:cNvPicPr/>
          <p:nvPr/>
        </p:nvPicPr>
        <p:blipFill>
          <a:blip r:embed="rId1"/>
          <a:stretch/>
        </p:blipFill>
        <p:spPr>
          <a:xfrm>
            <a:off x="1143000" y="514800"/>
            <a:ext cx="4342320" cy="3862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8560" cy="149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5000" spc="89" strike="noStrike" cap="all">
                <a:solidFill>
                  <a:schemeClr val="dk1">
                    <a:lumMod val="95000"/>
                    <a:lumOff val="5000"/>
                  </a:schemeClr>
                </a:solidFill>
                <a:latin typeface="Tw Cen MT Condensed"/>
              </a:rPr>
              <a:t>TRANSFER LEARNING APPROACH 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/>
          </p:nvPr>
        </p:nvSpPr>
        <p:spPr>
          <a:xfrm>
            <a:off x="1024200" y="2286000"/>
            <a:ext cx="9718560" cy="40219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fontScale="93333" lnSpcReduction="10000"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Tw Cen MT"/>
              <a:buChar char=" "/>
            </a:pPr>
            <a:r>
              <a:rPr b="0" lang="en-US" sz="3200" spc="-1" strike="noStrike" u="sng">
                <a:solidFill>
                  <a:schemeClr val="dk1"/>
                </a:solidFill>
                <a:uFillTx/>
                <a:latin typeface="Tw Cen MT"/>
              </a:rPr>
              <a:t>Transfer learning was applied by fine-tuning a pre-trained CNN </a:t>
            </a:r>
            <a:r>
              <a:rPr b="1" lang="en-US" sz="3200" spc="-1" strike="noStrike" u="sng">
                <a:solidFill>
                  <a:schemeClr val="dk1"/>
                </a:solidFill>
                <a:uFillTx/>
                <a:latin typeface="Tw Cen MT"/>
              </a:rPr>
              <a:t>(MobileNetV2) </a:t>
            </a:r>
            <a:r>
              <a:rPr b="0" lang="en-US" sz="3200" spc="-1" strike="noStrike" u="sng">
                <a:solidFill>
                  <a:schemeClr val="dk1"/>
                </a:solidFill>
                <a:uFillTx/>
                <a:latin typeface="Tw Cen MT"/>
              </a:rPr>
              <a:t>for coin classification. The base model was frozen while additional layers were trained , reducing training time and improving accuracy with limited data .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3200" spc="-1" strike="noStrike" u="sng">
                <a:solidFill>
                  <a:schemeClr val="dk1"/>
                </a:solidFill>
                <a:uFillTx/>
                <a:latin typeface="Tw Cen MT"/>
              </a:rPr>
              <a:t>This achieves high accuracy with limited training while significantly reducing training time and over fitting 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Rectangl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466960" cy="68565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3777480" cy="149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3000" spc="89" strike="noStrike" cap="all">
                <a:solidFill>
                  <a:srgbClr val="ffffff"/>
                </a:solidFill>
                <a:latin typeface="Tw Cen MT Condensed"/>
              </a:rPr>
              <a:t>Training configuration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03" name="Straight Connector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761760" y="826200"/>
            <a:ext cx="1440" cy="915840"/>
          </a:xfrm>
          <a:prstGeom prst="straightConnector1">
            <a:avLst/>
          </a:prstGeom>
          <a:ln w="19050">
            <a:solidFill>
              <a:srgbClr val="ebf5d7"/>
            </a:solidFill>
            <a:round/>
          </a:ln>
        </p:spPr>
      </p:cxnSp>
      <p:sp>
        <p:nvSpPr>
          <p:cNvPr id="204" name="PlaceHolder 2"/>
          <p:cNvSpPr>
            <a:spLocks noGrp="1"/>
          </p:cNvSpPr>
          <p:nvPr>
            <p:ph/>
          </p:nvPr>
        </p:nvSpPr>
        <p:spPr>
          <a:xfrm>
            <a:off x="1024200" y="2286000"/>
            <a:ext cx="3790440" cy="39304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Tw Cen MT Condensed"/>
              </a:rPr>
              <a:t>Optimizer: Adam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Tw Cen MT Condensed"/>
              </a:rPr>
              <a:t>Training Rate: 0.001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Tw Cen MT Condensed"/>
              </a:rPr>
              <a:t>Loss : </a:t>
            </a:r>
            <a:r>
              <a:rPr b="0" lang="en-US" sz="2000" spc="-1" strike="noStrike">
                <a:solidFill>
                  <a:srgbClr val="ffffff"/>
                </a:solidFill>
                <a:latin typeface="Tw Cen MT Condensed"/>
                <a:ea typeface="JetBrains Mono"/>
              </a:rPr>
              <a:t>sparse categorical cross-entropy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Tw Cen MT Condensed"/>
                <a:ea typeface="JetBrains Mono"/>
              </a:rPr>
              <a:t>Monitor metrics: Accuracy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Tw Cen MT Condensed"/>
                <a:ea typeface="JetBrains Mono"/>
              </a:rPr>
              <a:t>Callbacks: Early-stopping, model checkpoint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Tw Cen MT Condensed"/>
                <a:ea typeface="JetBrains Mono"/>
              </a:rPr>
              <a:t>Dataset split: 80% train, 20% validation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5" name="" descr=""/>
          <p:cNvPicPr/>
          <p:nvPr/>
        </p:nvPicPr>
        <p:blipFill>
          <a:blip r:embed="rId1"/>
          <a:stretch/>
        </p:blipFill>
        <p:spPr>
          <a:xfrm>
            <a:off x="6010560" y="810000"/>
            <a:ext cx="5723280" cy="4903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8560" cy="149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5000" spc="89" strike="noStrike" cap="all">
                <a:solidFill>
                  <a:schemeClr val="dk1">
                    <a:lumMod val="95000"/>
                    <a:lumOff val="5000"/>
                  </a:schemeClr>
                </a:solidFill>
                <a:latin typeface="Tw Cen MT Condensed"/>
              </a:rPr>
              <a:t>Label Smoothing (Softmax)</a:t>
            </a:r>
            <a:br>
              <a:rPr sz="5000"/>
            </a:b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/>
          </p:nvPr>
        </p:nvSpPr>
        <p:spPr>
          <a:xfrm>
            <a:off x="1024200" y="2286000"/>
            <a:ext cx="9718560" cy="40219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fontScale="89999"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Tw Cen MT"/>
              <a:buChar char=" "/>
            </a:pP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Label smoothing is a regularization technique used to prevent the model from becoming overconfident in its predictions. Instead of assigning a probability of 1 to the correct class and 0 to others, small values are distributed across all classes. This helps improve generalization and reduces overfitting.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Tw Cen MT"/>
              <a:buChar char=" "/>
            </a:pPr>
            <a:r>
              <a:rPr b="1" lang="en-US" sz="2200" spc="-1" strike="noStrike">
                <a:solidFill>
                  <a:schemeClr val="dk1"/>
                </a:solidFill>
                <a:latin typeface="Tw Cen MT"/>
              </a:rPr>
              <a:t>Why it is useful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Wingdings" charset="2"/>
              <a:buChar char=""/>
            </a:pP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Prevents extreme confidence in predictions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Wingdings" charset="2"/>
              <a:buChar char=""/>
            </a:pP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Improves model generalization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Wingdings" charset="2"/>
              <a:buChar char=""/>
            </a:pP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Reduces overfitting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Wingdings" charset="2"/>
              <a:buChar char=""/>
            </a:pP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Makes training more stable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chemeClr val="dk1"/>
                </a:solidFill>
                <a:latin typeface="Tw Cen MT"/>
              </a:rPr>
              <a:t>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8560" cy="149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5000" spc="89" strike="noStrike" cap="all">
                <a:solidFill>
                  <a:schemeClr val="dk1">
                    <a:lumMod val="95000"/>
                    <a:lumOff val="5000"/>
                  </a:schemeClr>
                </a:solidFill>
                <a:latin typeface="Tw Cen MT Condensed"/>
              </a:rPr>
              <a:t>Model ACCURACY 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/>
          </p:nvPr>
        </p:nvSpPr>
        <p:spPr>
          <a:xfrm>
            <a:off x="1024200" y="2286000"/>
            <a:ext cx="9718560" cy="40219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Courier New"/>
              <a:buChar char="o"/>
            </a:pP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The model achieved an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accuracy of around 0.98 on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 </a:t>
            </a: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training and 0.88 on validation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0" name="" descr=""/>
          <p:cNvPicPr/>
          <p:nvPr/>
        </p:nvPicPr>
        <p:blipFill>
          <a:blip r:embed="rId1"/>
          <a:stretch/>
        </p:blipFill>
        <p:spPr>
          <a:xfrm>
            <a:off x="5486400" y="1676880"/>
            <a:ext cx="6342120" cy="4722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8560" cy="149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5000" spc="89" strike="noStrike" cap="all">
                <a:solidFill>
                  <a:schemeClr val="dk1">
                    <a:lumMod val="95000"/>
                    <a:lumOff val="5000"/>
                  </a:schemeClr>
                </a:solidFill>
                <a:latin typeface="Tw Cen MT Condensed"/>
              </a:rPr>
              <a:t>Accuracy vs recall 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2" name="" descr=""/>
          <p:cNvPicPr/>
          <p:nvPr/>
        </p:nvPicPr>
        <p:blipFill>
          <a:blip r:embed="rId1"/>
          <a:stretch/>
        </p:blipFill>
        <p:spPr>
          <a:xfrm>
            <a:off x="1371600" y="2377800"/>
            <a:ext cx="8544240" cy="3793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8560" cy="149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5000" spc="89" strike="noStrike" cap="all">
                <a:solidFill>
                  <a:schemeClr val="dk1">
                    <a:lumMod val="95000"/>
                    <a:lumOff val="5000"/>
                  </a:schemeClr>
                </a:solidFill>
                <a:latin typeface="Tw Cen MT Condensed"/>
              </a:rPr>
              <a:t>Segmentation Pipeline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"/>
          <p:cNvSpPr/>
          <p:nvPr/>
        </p:nvSpPr>
        <p:spPr>
          <a:xfrm>
            <a:off x="2743200" y="2743200"/>
            <a:ext cx="2056320" cy="1141920"/>
          </a:xfrm>
          <a:prstGeom prst="ellipse">
            <a:avLst/>
          </a:prstGeom>
          <a:solidFill>
            <a:srgbClr val="99cb38"/>
          </a:solidFill>
          <a:ln w="0">
            <a:solidFill>
              <a:srgbClr val="99cb3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Convert to Gray scale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"/>
          <p:cNvSpPr/>
          <p:nvPr/>
        </p:nvSpPr>
        <p:spPr>
          <a:xfrm>
            <a:off x="5029200" y="2743200"/>
            <a:ext cx="2056320" cy="1370520"/>
          </a:xfrm>
          <a:prstGeom prst="ellipse">
            <a:avLst/>
          </a:prstGeom>
          <a:solidFill>
            <a:srgbClr val="99cb38"/>
          </a:solidFill>
          <a:ln w="0">
            <a:solidFill>
              <a:srgbClr val="99cb3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Gaussian Blur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(3,3) kernel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"/>
          <p:cNvSpPr/>
          <p:nvPr/>
        </p:nvSpPr>
        <p:spPr>
          <a:xfrm>
            <a:off x="7315200" y="2743200"/>
            <a:ext cx="1827720" cy="1370520"/>
          </a:xfrm>
          <a:prstGeom prst="ellipse">
            <a:avLst/>
          </a:prstGeom>
          <a:solidFill>
            <a:srgbClr val="99cb38"/>
          </a:solidFill>
          <a:ln w="0">
            <a:solidFill>
              <a:srgbClr val="99cb3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Edge detection (Canny, 50,150)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"/>
          <p:cNvSpPr/>
          <p:nvPr/>
        </p:nvSpPr>
        <p:spPr>
          <a:xfrm>
            <a:off x="9372600" y="2743200"/>
            <a:ext cx="2513520" cy="1370520"/>
          </a:xfrm>
          <a:prstGeom prst="ellipse">
            <a:avLst/>
          </a:prstGeom>
          <a:solidFill>
            <a:srgbClr val="99cb38"/>
          </a:solidFill>
          <a:ln w="0">
            <a:solidFill>
              <a:srgbClr val="99cb3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Morphological Closing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(5,5)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Ellipse Kernel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"/>
          <p:cNvSpPr/>
          <p:nvPr/>
        </p:nvSpPr>
        <p:spPr>
          <a:xfrm>
            <a:off x="685800" y="4572000"/>
            <a:ext cx="1599120" cy="1370520"/>
          </a:xfrm>
          <a:prstGeom prst="ellipse">
            <a:avLst/>
          </a:prstGeom>
          <a:solidFill>
            <a:srgbClr val="99cb38"/>
          </a:solidFill>
          <a:ln w="0">
            <a:solidFill>
              <a:srgbClr val="99cb3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Contours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2286360" y="3429000"/>
            <a:ext cx="456840" cy="360"/>
          </a:xfrm>
          <a:prstGeom prst="line">
            <a:avLst/>
          </a:prstGeom>
          <a:ln w="0">
            <a:solidFill>
              <a:srgbClr val="99cb38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"/>
          <p:cNvSpPr/>
          <p:nvPr/>
        </p:nvSpPr>
        <p:spPr>
          <a:xfrm>
            <a:off x="4800240" y="3429000"/>
            <a:ext cx="228960" cy="360"/>
          </a:xfrm>
          <a:prstGeom prst="line">
            <a:avLst/>
          </a:prstGeom>
          <a:ln w="0">
            <a:solidFill>
              <a:srgbClr val="99cb38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"/>
          <p:cNvSpPr/>
          <p:nvPr/>
        </p:nvSpPr>
        <p:spPr>
          <a:xfrm>
            <a:off x="7086600" y="3429000"/>
            <a:ext cx="228960" cy="360"/>
          </a:xfrm>
          <a:prstGeom prst="line">
            <a:avLst/>
          </a:prstGeom>
          <a:ln w="0">
            <a:solidFill>
              <a:srgbClr val="99cb38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"/>
          <p:cNvSpPr/>
          <p:nvPr/>
        </p:nvSpPr>
        <p:spPr>
          <a:xfrm>
            <a:off x="10744200" y="4114800"/>
            <a:ext cx="360" cy="228600"/>
          </a:xfrm>
          <a:prstGeom prst="line">
            <a:avLst/>
          </a:prstGeom>
          <a:ln w="0">
            <a:solidFill>
              <a:srgbClr val="99cb38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23" name=""/>
          <p:cNvCxnSpPr>
            <a:stCxn id="222" idx="2"/>
          </p:cNvCxnSpPr>
          <p:nvPr/>
        </p:nvCxnSpPr>
        <p:spPr>
          <a:xfrm rot="10800000">
            <a:off x="456840" y="4343400"/>
            <a:ext cx="10287720" cy="360"/>
          </a:xfrm>
          <a:prstGeom prst="bentConnector2">
            <a:avLst/>
          </a:prstGeom>
          <a:ln w="0">
            <a:solidFill>
              <a:srgbClr val="99cb38"/>
            </a:solidFill>
          </a:ln>
        </p:spPr>
      </p:cxnSp>
      <p:cxnSp>
        <p:nvCxnSpPr>
          <p:cNvPr id="224" name=""/>
          <p:cNvCxnSpPr/>
          <p:nvPr/>
        </p:nvCxnSpPr>
        <p:spPr>
          <a:xfrm flipH="1" flipV="1" rot="5400000">
            <a:off x="23040" y="4776840"/>
            <a:ext cx="868320" cy="1440"/>
          </a:xfrm>
          <a:prstGeom prst="bentConnector3">
            <a:avLst>
              <a:gd name="adj1" fmla="val 0"/>
            </a:avLst>
          </a:prstGeom>
          <a:ln w="0">
            <a:solidFill>
              <a:srgbClr val="99cb38"/>
            </a:solidFill>
          </a:ln>
        </p:spPr>
      </p:cxnSp>
      <p:sp>
        <p:nvSpPr>
          <p:cNvPr id="225" name=""/>
          <p:cNvSpPr/>
          <p:nvPr/>
        </p:nvSpPr>
        <p:spPr>
          <a:xfrm>
            <a:off x="464760" y="5233320"/>
            <a:ext cx="221040" cy="24480"/>
          </a:xfrm>
          <a:prstGeom prst="line">
            <a:avLst/>
          </a:prstGeom>
          <a:ln w="0">
            <a:solidFill>
              <a:srgbClr val="99cb38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20520" bIns="-205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"/>
          <p:cNvSpPr/>
          <p:nvPr/>
        </p:nvSpPr>
        <p:spPr>
          <a:xfrm>
            <a:off x="4572000" y="5257800"/>
            <a:ext cx="228600" cy="360"/>
          </a:xfrm>
          <a:prstGeom prst="line">
            <a:avLst/>
          </a:prstGeom>
          <a:ln w="0">
            <a:solidFill>
              <a:srgbClr val="99cb38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"/>
          <p:cNvSpPr/>
          <p:nvPr/>
        </p:nvSpPr>
        <p:spPr>
          <a:xfrm>
            <a:off x="228600" y="2743200"/>
            <a:ext cx="2056320" cy="1141920"/>
          </a:xfrm>
          <a:prstGeom prst="ellipse">
            <a:avLst/>
          </a:prstGeom>
          <a:solidFill>
            <a:srgbClr val="99cb38"/>
          </a:solidFill>
          <a:ln w="0">
            <a:solidFill>
              <a:srgbClr val="99cb3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Input Image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"/>
          <p:cNvSpPr/>
          <p:nvPr/>
        </p:nvSpPr>
        <p:spPr>
          <a:xfrm>
            <a:off x="9144000" y="3429000"/>
            <a:ext cx="228600" cy="360"/>
          </a:xfrm>
          <a:prstGeom prst="line">
            <a:avLst/>
          </a:prstGeom>
          <a:ln w="0">
            <a:solidFill>
              <a:srgbClr val="99cb38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"/>
          <p:cNvSpPr/>
          <p:nvPr/>
        </p:nvSpPr>
        <p:spPr>
          <a:xfrm>
            <a:off x="2514600" y="4572000"/>
            <a:ext cx="2056320" cy="1370520"/>
          </a:xfrm>
          <a:prstGeom prst="ellipse">
            <a:avLst/>
          </a:prstGeom>
          <a:solidFill>
            <a:srgbClr val="99cb38"/>
          </a:solidFill>
          <a:ln w="0">
            <a:solidFill>
              <a:srgbClr val="99cb3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Contour filtering: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Area, Perimeter, Circularity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"/>
          <p:cNvSpPr/>
          <p:nvPr/>
        </p:nvSpPr>
        <p:spPr>
          <a:xfrm>
            <a:off x="4800600" y="4572000"/>
            <a:ext cx="2056320" cy="1370520"/>
          </a:xfrm>
          <a:prstGeom prst="ellipse">
            <a:avLst/>
          </a:prstGeom>
          <a:solidFill>
            <a:srgbClr val="99cb38"/>
          </a:solidFill>
          <a:ln w="0">
            <a:solidFill>
              <a:srgbClr val="99cb3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Bounding Boxes for contours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"/>
          <p:cNvSpPr/>
          <p:nvPr/>
        </p:nvSpPr>
        <p:spPr>
          <a:xfrm>
            <a:off x="2286000" y="5257800"/>
            <a:ext cx="228600" cy="360"/>
          </a:xfrm>
          <a:prstGeom prst="line">
            <a:avLst/>
          </a:prstGeom>
          <a:ln w="0">
            <a:solidFill>
              <a:srgbClr val="99cb38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"/>
          <p:cNvSpPr/>
          <p:nvPr/>
        </p:nvSpPr>
        <p:spPr>
          <a:xfrm>
            <a:off x="7086600" y="4572000"/>
            <a:ext cx="2056320" cy="1370520"/>
          </a:xfrm>
          <a:prstGeom prst="ellipse">
            <a:avLst/>
          </a:prstGeom>
          <a:solidFill>
            <a:srgbClr val="99cb38"/>
          </a:solidFill>
          <a:ln w="0">
            <a:solidFill>
              <a:srgbClr val="99cb3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Crop each coin individually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"/>
          <p:cNvSpPr/>
          <p:nvPr/>
        </p:nvSpPr>
        <p:spPr>
          <a:xfrm>
            <a:off x="6858000" y="5257800"/>
            <a:ext cx="228600" cy="360"/>
          </a:xfrm>
          <a:prstGeom prst="line">
            <a:avLst/>
          </a:prstGeom>
          <a:ln w="0">
            <a:solidFill>
              <a:srgbClr val="99cb38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"/>
          <p:cNvSpPr/>
          <p:nvPr/>
        </p:nvSpPr>
        <p:spPr>
          <a:xfrm>
            <a:off x="9373680" y="4573080"/>
            <a:ext cx="2056320" cy="1370520"/>
          </a:xfrm>
          <a:prstGeom prst="ellipse">
            <a:avLst/>
          </a:prstGeom>
          <a:solidFill>
            <a:srgbClr val="99cb38"/>
          </a:solidFill>
          <a:ln w="0">
            <a:solidFill>
              <a:srgbClr val="99cb3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Classify each coin individually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"/>
          <p:cNvSpPr/>
          <p:nvPr/>
        </p:nvSpPr>
        <p:spPr>
          <a:xfrm>
            <a:off x="9145080" y="5257800"/>
            <a:ext cx="228600" cy="360"/>
          </a:xfrm>
          <a:prstGeom prst="line">
            <a:avLst/>
          </a:prstGeom>
          <a:ln w="0">
            <a:solidFill>
              <a:srgbClr val="99cb38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8560" cy="149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5000" spc="89" strike="noStrike" cap="all">
                <a:solidFill>
                  <a:schemeClr val="dk1">
                    <a:lumMod val="95000"/>
                    <a:lumOff val="5000"/>
                  </a:schemeClr>
                </a:solidFill>
                <a:latin typeface="Tw Cen MT Condensed"/>
              </a:rPr>
              <a:t>Segmentation Pipeline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7" name="" descr=""/>
          <p:cNvPicPr/>
          <p:nvPr/>
        </p:nvPicPr>
        <p:blipFill>
          <a:blip r:embed="rId1"/>
          <a:stretch/>
        </p:blipFill>
        <p:spPr>
          <a:xfrm>
            <a:off x="898560" y="1812960"/>
            <a:ext cx="1843560" cy="1843560"/>
          </a:xfrm>
          <a:prstGeom prst="rect">
            <a:avLst/>
          </a:prstGeom>
          <a:ln w="0">
            <a:noFill/>
          </a:ln>
        </p:spPr>
      </p:pic>
      <p:pic>
        <p:nvPicPr>
          <p:cNvPr id="238" name="" descr=""/>
          <p:cNvPicPr/>
          <p:nvPr/>
        </p:nvPicPr>
        <p:blipFill>
          <a:blip r:embed="rId2"/>
          <a:stretch/>
        </p:blipFill>
        <p:spPr>
          <a:xfrm>
            <a:off x="3193200" y="1828800"/>
            <a:ext cx="1834920" cy="1829160"/>
          </a:xfrm>
          <a:prstGeom prst="rect">
            <a:avLst/>
          </a:prstGeom>
          <a:ln w="0">
            <a:noFill/>
          </a:ln>
        </p:spPr>
      </p:pic>
      <p:pic>
        <p:nvPicPr>
          <p:cNvPr id="239" name="" descr=""/>
          <p:cNvPicPr/>
          <p:nvPr/>
        </p:nvPicPr>
        <p:blipFill>
          <a:blip r:embed="rId3"/>
          <a:stretch/>
        </p:blipFill>
        <p:spPr>
          <a:xfrm>
            <a:off x="5715000" y="1828800"/>
            <a:ext cx="1813320" cy="1827720"/>
          </a:xfrm>
          <a:prstGeom prst="rect">
            <a:avLst/>
          </a:prstGeom>
          <a:ln w="0">
            <a:noFill/>
          </a:ln>
        </p:spPr>
      </p:pic>
      <p:pic>
        <p:nvPicPr>
          <p:cNvPr id="240" name="" descr=""/>
          <p:cNvPicPr/>
          <p:nvPr/>
        </p:nvPicPr>
        <p:blipFill>
          <a:blip r:embed="rId4"/>
          <a:stretch/>
        </p:blipFill>
        <p:spPr>
          <a:xfrm>
            <a:off x="8001000" y="1828800"/>
            <a:ext cx="1827720" cy="1842120"/>
          </a:xfrm>
          <a:prstGeom prst="rect">
            <a:avLst/>
          </a:prstGeom>
          <a:ln w="0">
            <a:noFill/>
          </a:ln>
        </p:spPr>
      </p:pic>
      <p:pic>
        <p:nvPicPr>
          <p:cNvPr id="241" name="" descr=""/>
          <p:cNvPicPr/>
          <p:nvPr/>
        </p:nvPicPr>
        <p:blipFill>
          <a:blip r:embed="rId5"/>
          <a:stretch/>
        </p:blipFill>
        <p:spPr>
          <a:xfrm>
            <a:off x="898560" y="3657600"/>
            <a:ext cx="1813680" cy="1827720"/>
          </a:xfrm>
          <a:prstGeom prst="rect">
            <a:avLst/>
          </a:prstGeom>
          <a:ln w="0">
            <a:noFill/>
          </a:ln>
        </p:spPr>
      </p:pic>
      <p:pic>
        <p:nvPicPr>
          <p:cNvPr id="242" name="" descr=""/>
          <p:cNvPicPr/>
          <p:nvPr/>
        </p:nvPicPr>
        <p:blipFill>
          <a:blip r:embed="rId6"/>
          <a:stretch/>
        </p:blipFill>
        <p:spPr>
          <a:xfrm>
            <a:off x="3196440" y="3641040"/>
            <a:ext cx="1831680" cy="1846080"/>
          </a:xfrm>
          <a:prstGeom prst="rect">
            <a:avLst/>
          </a:prstGeom>
          <a:ln w="0">
            <a:noFill/>
          </a:ln>
        </p:spPr>
      </p:pic>
      <p:pic>
        <p:nvPicPr>
          <p:cNvPr id="243" name="" descr=""/>
          <p:cNvPicPr/>
          <p:nvPr/>
        </p:nvPicPr>
        <p:blipFill>
          <a:blip r:embed="rId7"/>
          <a:stretch/>
        </p:blipFill>
        <p:spPr>
          <a:xfrm>
            <a:off x="5705640" y="3657600"/>
            <a:ext cx="1837080" cy="1851480"/>
          </a:xfrm>
          <a:prstGeom prst="rect">
            <a:avLst/>
          </a:prstGeom>
          <a:ln w="0">
            <a:noFill/>
          </a:ln>
        </p:spPr>
      </p:pic>
      <p:pic>
        <p:nvPicPr>
          <p:cNvPr id="244" name="" descr=""/>
          <p:cNvPicPr/>
          <p:nvPr/>
        </p:nvPicPr>
        <p:blipFill>
          <a:blip r:embed="rId8"/>
          <a:stretch/>
        </p:blipFill>
        <p:spPr>
          <a:xfrm>
            <a:off x="7995240" y="3633840"/>
            <a:ext cx="1837080" cy="1851480"/>
          </a:xfrm>
          <a:prstGeom prst="rect">
            <a:avLst/>
          </a:prstGeom>
          <a:ln w="0">
            <a:noFill/>
          </a:ln>
        </p:spPr>
      </p:pic>
      <p:pic>
        <p:nvPicPr>
          <p:cNvPr id="245" name="" descr=""/>
          <p:cNvPicPr/>
          <p:nvPr/>
        </p:nvPicPr>
        <p:blipFill>
          <a:blip r:embed="rId9"/>
          <a:stretch/>
        </p:blipFill>
        <p:spPr>
          <a:xfrm>
            <a:off x="895680" y="5524920"/>
            <a:ext cx="9161640" cy="1103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8560" cy="149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5000" spc="89" strike="noStrike" cap="all">
                <a:solidFill>
                  <a:schemeClr val="dk1">
                    <a:lumMod val="95000"/>
                    <a:lumOff val="5000"/>
                  </a:schemeClr>
                </a:solidFill>
                <a:latin typeface="Tw Cen MT Condensed"/>
              </a:rPr>
              <a:t>Single coin MODEL TESTING &amp; UI (STREAMLIT)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/>
          </p:nvPr>
        </p:nvSpPr>
        <p:spPr>
          <a:xfrm>
            <a:off x="1024200" y="2286000"/>
            <a:ext cx="9718560" cy="40219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91440"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chemeClr val="dk1"/>
                </a:solidFill>
                <a:latin typeface="Tw Cen MT"/>
              </a:rPr>
              <a:t>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8" name="" descr=""/>
          <p:cNvPicPr/>
          <p:nvPr/>
        </p:nvPicPr>
        <p:blipFill>
          <a:blip r:embed="rId1"/>
          <a:stretch/>
        </p:blipFill>
        <p:spPr>
          <a:xfrm>
            <a:off x="441720" y="2514600"/>
            <a:ext cx="4815000" cy="2742120"/>
          </a:xfrm>
          <a:prstGeom prst="rect">
            <a:avLst/>
          </a:prstGeom>
          <a:ln w="0">
            <a:noFill/>
          </a:ln>
        </p:spPr>
      </p:pic>
      <p:pic>
        <p:nvPicPr>
          <p:cNvPr id="249" name="" descr=""/>
          <p:cNvPicPr/>
          <p:nvPr/>
        </p:nvPicPr>
        <p:blipFill>
          <a:blip r:embed="rId2"/>
          <a:stretch/>
        </p:blipFill>
        <p:spPr>
          <a:xfrm>
            <a:off x="6505920" y="2384280"/>
            <a:ext cx="4008600" cy="3558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8560" cy="149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5000" spc="89" strike="noStrike" cap="all">
                <a:solidFill>
                  <a:schemeClr val="dk1">
                    <a:lumMod val="95000"/>
                    <a:lumOff val="5000"/>
                  </a:schemeClr>
                </a:solidFill>
                <a:latin typeface="Tw Cen MT Condensed"/>
              </a:rPr>
              <a:t>Multi coin Segmentation TESTING &amp; UI (STREAMLIT)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/>
          </p:nvPr>
        </p:nvSpPr>
        <p:spPr>
          <a:xfrm>
            <a:off x="1024200" y="2286000"/>
            <a:ext cx="9718560" cy="40219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91440"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chemeClr val="dk1"/>
                </a:solidFill>
                <a:latin typeface="Tw Cen MT"/>
              </a:rPr>
              <a:t>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2" name="" descr=""/>
          <p:cNvPicPr/>
          <p:nvPr/>
        </p:nvPicPr>
        <p:blipFill>
          <a:blip r:embed="rId1"/>
          <a:stretch/>
        </p:blipFill>
        <p:spPr>
          <a:xfrm>
            <a:off x="228600" y="2117520"/>
            <a:ext cx="6302880" cy="3596400"/>
          </a:xfrm>
          <a:prstGeom prst="rect">
            <a:avLst/>
          </a:prstGeom>
          <a:ln w="0">
            <a:noFill/>
          </a:ln>
        </p:spPr>
      </p:pic>
      <p:pic>
        <p:nvPicPr>
          <p:cNvPr id="253" name="" descr=""/>
          <p:cNvPicPr/>
          <p:nvPr/>
        </p:nvPicPr>
        <p:blipFill>
          <a:blip r:embed="rId2"/>
          <a:stretch/>
        </p:blipFill>
        <p:spPr>
          <a:xfrm>
            <a:off x="7138440" y="2057400"/>
            <a:ext cx="4061880" cy="4739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8560" cy="149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5555"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5000" spc="89" strike="noStrike" cap="all">
                <a:solidFill>
                  <a:schemeClr val="dk1">
                    <a:lumMod val="95000"/>
                    <a:lumOff val="5000"/>
                  </a:schemeClr>
                </a:solidFill>
                <a:latin typeface="Tw Cen MT Condensed"/>
              </a:rPr>
              <a:t>Grayscale (Experimented Step)</a:t>
            </a:r>
            <a:br>
              <a:rPr sz="5000"/>
            </a:b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/>
          </p:nvPr>
        </p:nvSpPr>
        <p:spPr>
          <a:xfrm>
            <a:off x="1024200" y="2286000"/>
            <a:ext cx="9718560" cy="40219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Wingdings" charset="2"/>
              <a:buChar char=""/>
            </a:pP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 </a:t>
            </a: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Converted images to grayscale during classification+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Wingdings" charset="2"/>
              <a:buChar char=""/>
            </a:pP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 </a:t>
            </a: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Reduced image complexity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Wingdings" charset="2"/>
              <a:buChar char=""/>
            </a:pP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 </a:t>
            </a: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Enhanced edge visibility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Wingdings" charset="2"/>
              <a:buChar char=""/>
            </a:pP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 </a:t>
            </a: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Compared Grayscale vs RGB performance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Wingdings" charset="2"/>
              <a:buChar char=""/>
            </a:pP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Color was a strong feature for classification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Wingdings" charset="2"/>
              <a:buChar char=""/>
            </a:pP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 </a:t>
            </a: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RGB performed better → final model kept color channels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8560" cy="149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5000" spc="89" strike="noStrike" cap="all">
                <a:solidFill>
                  <a:schemeClr val="dk1">
                    <a:lumMod val="95000"/>
                    <a:lumOff val="5000"/>
                  </a:schemeClr>
                </a:solidFill>
                <a:latin typeface="Tw Cen MT Condensed"/>
              </a:rPr>
              <a:t>Mechanical system overview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" name="Diagram1"/>
          <p:cNvGraphicFramePr/>
          <p:nvPr>
            <p:extLst>
              <p:ext uri="{D42A27DB-BD31-4B8C-83A1-F6EECF244321}">
                <p14:modId xmlns:p14="http://schemas.microsoft.com/office/powerpoint/2010/main" val="731922510"/>
              </p:ext>
            </p:extLst>
          </p:nvPr>
        </p:nvGraphicFramePr>
        <p:xfrm>
          <a:off x="1023840" y="2286000"/>
          <a:ext cx="9718920" cy="4021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7" name="Rectangle 3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0680" cy="68565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8129880" y="643320"/>
            <a:ext cx="3471480" cy="556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5000" spc="89" strike="noStrike" cap="all">
                <a:solidFill>
                  <a:schemeClr val="dk1">
                    <a:lumMod val="95000"/>
                    <a:lumOff val="5000"/>
                  </a:schemeClr>
                </a:solidFill>
                <a:latin typeface="Tw Cen MT Condensed"/>
              </a:rPr>
              <a:t>Interior design overview 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59" name="Straight Connector 3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7853400" y="2514600"/>
            <a:ext cx="1440" cy="1830240"/>
          </a:xfrm>
          <a:prstGeom prst="straightConnector1">
            <a:avLst/>
          </a:prstGeom>
          <a:ln w="19050">
            <a:solidFill>
              <a:srgbClr val="99cb38"/>
            </a:solidFill>
            <a:round/>
          </a:ln>
        </p:spPr>
      </p:cxnSp>
      <p:grpSp>
        <p:nvGrpSpPr>
          <p:cNvPr id="260" name="Diagram2"/>
          <p:cNvGrpSpPr/>
          <p:nvPr/>
        </p:nvGrpSpPr>
        <p:grpSpPr>
          <a:xfrm>
            <a:off x="942840" y="933480"/>
            <a:ext cx="6594480" cy="4940640"/>
            <a:chOff x="942840" y="933480"/>
            <a:chExt cx="6594480" cy="4940640"/>
          </a:xfrm>
        </p:grpSpPr>
        <p:sp>
          <p:nvSpPr>
            <p:cNvPr id="261" name=""/>
            <p:cNvSpPr/>
            <p:nvPr/>
          </p:nvSpPr>
          <p:spPr>
            <a:xfrm>
              <a:off x="942840" y="933480"/>
              <a:ext cx="6594480" cy="4940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2" name=""/>
            <p:cNvSpPr/>
            <p:nvPr/>
          </p:nvSpPr>
          <p:spPr>
            <a:xfrm>
              <a:off x="1769760" y="933480"/>
              <a:ext cx="4940640" cy="4940640"/>
            </a:xfrm>
            <a:prstGeom prst="diamond">
              <a:avLst/>
            </a:prstGeom>
            <a:solidFill>
              <a:schemeClr val="accent1">
                <a:tint val="40000"/>
                <a:hueOff val="0"/>
                <a:satOff val="0"/>
                <a:lumOff val="0"/>
                <a:alphaOff val="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3" name=""/>
            <p:cNvSpPr/>
            <p:nvPr/>
          </p:nvSpPr>
          <p:spPr>
            <a:xfrm>
              <a:off x="2239560" y="1402920"/>
              <a:ext cx="1926360" cy="1926360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</a:schemeClr>
            </a:solidFill>
            <a:ln>
              <a:solidFill>
                <a:srgbClr val="ffffff"/>
              </a:solidFill>
              <a:round/>
            </a:ln>
          </p:spPr>
          <p:style>
            <a:lnRef idx="2"/>
            <a:fillRef idx="0"/>
            <a:effectRef idx="0"/>
            <a:fontRef idx="minor"/>
          </p:style>
          <p:txBody>
            <a:bodyPr numCol="1" spcCol="1440" lIns="95400" rIns="95400" tIns="95400" bIns="95400" anchor="ctr">
              <a:noAutofit/>
            </a:bodyPr>
            <a:p>
              <a:pPr algn="ctr" defTabSz="1111320">
                <a:lnSpc>
                  <a:spcPct val="90000"/>
                </a:lnSpc>
                <a:spcAft>
                  <a:spcPts val="876"/>
                </a:spcAft>
                <a:tabLst>
                  <a:tab algn="l" pos="0"/>
                </a:tabLst>
              </a:pPr>
              <a:r>
                <a:rPr b="1" lang="en-US" sz="1800" spc="-1" strike="noStrike">
                  <a:solidFill>
                    <a:schemeClr val="lt1"/>
                  </a:solidFill>
                  <a:latin typeface="Tw Cen MT"/>
                </a:rPr>
                <a:t>Interior ramp mechanism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4" name=""/>
            <p:cNvSpPr/>
            <p:nvPr/>
          </p:nvSpPr>
          <p:spPr>
            <a:xfrm>
              <a:off x="4314960" y="1402920"/>
              <a:ext cx="1926360" cy="1926360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</a:schemeClr>
            </a:solidFill>
            <a:ln>
              <a:solidFill>
                <a:srgbClr val="ffffff"/>
              </a:solidFill>
              <a:round/>
            </a:ln>
          </p:spPr>
          <p:style>
            <a:lnRef idx="2"/>
            <a:fillRef idx="0"/>
            <a:effectRef idx="0"/>
            <a:fontRef idx="minor"/>
          </p:style>
          <p:txBody>
            <a:bodyPr numCol="1" spcCol="1440" lIns="95400" rIns="95400" tIns="95400" bIns="95400" anchor="ctr">
              <a:noAutofit/>
            </a:bodyPr>
            <a:p>
              <a:pPr algn="ctr" defTabSz="1111320">
                <a:lnSpc>
                  <a:spcPct val="90000"/>
                </a:lnSpc>
                <a:spcAft>
                  <a:spcPts val="876"/>
                </a:spcAft>
                <a:tabLst>
                  <a:tab algn="l" pos="0"/>
                </a:tabLst>
              </a:pPr>
              <a:r>
                <a:rPr b="1" lang="en-US" sz="1800" spc="-1" strike="noStrike">
                  <a:solidFill>
                    <a:schemeClr val="lt1"/>
                  </a:solidFill>
                  <a:latin typeface="Tw Cen MT"/>
                </a:rPr>
                <a:t>Infra-Red sensor placement             </a:t>
              </a:r>
              <a:r>
                <a:rPr b="0" lang="en-US" sz="1800" spc="-1" strike="noStrike">
                  <a:solidFill>
                    <a:schemeClr val="lt1"/>
                  </a:solidFill>
                  <a:latin typeface="Tw Cen MT"/>
                </a:rPr>
                <a:t>           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5" name=""/>
            <p:cNvSpPr/>
            <p:nvPr/>
          </p:nvSpPr>
          <p:spPr>
            <a:xfrm>
              <a:off x="2239560" y="3478680"/>
              <a:ext cx="1926360" cy="1926360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</a:schemeClr>
            </a:solidFill>
            <a:ln>
              <a:solidFill>
                <a:srgbClr val="ffffff"/>
              </a:solidFill>
              <a:round/>
            </a:ln>
          </p:spPr>
          <p:style>
            <a:lnRef idx="2"/>
            <a:fillRef idx="0"/>
            <a:effectRef idx="0"/>
            <a:fontRef idx="minor"/>
          </p:style>
          <p:txBody>
            <a:bodyPr numCol="1" spcCol="1440" lIns="95400" rIns="95400" tIns="95400" bIns="95400" anchor="ctr">
              <a:noAutofit/>
            </a:bodyPr>
            <a:p>
              <a:pPr algn="ctr" defTabSz="1111320">
                <a:lnSpc>
                  <a:spcPct val="90000"/>
                </a:lnSpc>
                <a:spcAft>
                  <a:spcPts val="876"/>
                </a:spcAft>
                <a:tabLst>
                  <a:tab algn="l" pos="0"/>
                </a:tabLst>
              </a:pPr>
              <a:r>
                <a:rPr b="1" lang="en-US" sz="1800" spc="-1" strike="noStrike">
                  <a:solidFill>
                    <a:schemeClr val="lt1"/>
                  </a:solidFill>
                  <a:latin typeface="Tw Cen MT"/>
                </a:rPr>
                <a:t>Interior gate mechanism                           </a:t>
              </a:r>
              <a:r>
                <a:rPr b="0" lang="en-US" sz="1800" spc="-1" strike="noStrike">
                  <a:solidFill>
                    <a:schemeClr val="lt1"/>
                  </a:solidFill>
                  <a:latin typeface="Tw Cen MT"/>
                </a:rPr>
                <a:t> 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6" name=""/>
            <p:cNvSpPr/>
            <p:nvPr/>
          </p:nvSpPr>
          <p:spPr>
            <a:xfrm>
              <a:off x="4314960" y="3478680"/>
              <a:ext cx="1926360" cy="1926360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</a:schemeClr>
            </a:solidFill>
            <a:ln>
              <a:solidFill>
                <a:srgbClr val="ffffff"/>
              </a:solidFill>
              <a:round/>
            </a:ln>
          </p:spPr>
          <p:style>
            <a:lnRef idx="2"/>
            <a:fillRef idx="0"/>
            <a:effectRef idx="0"/>
            <a:fontRef idx="minor"/>
          </p:style>
          <p:txBody>
            <a:bodyPr numCol="1" spcCol="1440" lIns="95400" rIns="95400" tIns="95400" bIns="95400" anchor="ctr">
              <a:noAutofit/>
            </a:bodyPr>
            <a:p>
              <a:pPr algn="ctr" defTabSz="1111320">
                <a:lnSpc>
                  <a:spcPct val="90000"/>
                </a:lnSpc>
                <a:spcAft>
                  <a:spcPts val="876"/>
                </a:spcAft>
                <a:tabLst>
                  <a:tab algn="l" pos="0"/>
                </a:tabLst>
              </a:pPr>
              <a:r>
                <a:rPr b="1" lang="en-US" sz="1800" spc="-1" strike="noStrike">
                  <a:solidFill>
                    <a:schemeClr val="lt1"/>
                  </a:solidFill>
                  <a:latin typeface="Tw Cen MT"/>
                </a:rPr>
                <a:t>Camera alignment zone        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4730760" cy="149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5000"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5000" spc="89" strike="noStrike" cap="all">
                <a:solidFill>
                  <a:schemeClr val="dk1">
                    <a:lumMod val="95000"/>
                    <a:lumOff val="5000"/>
                  </a:schemeClr>
                </a:solidFill>
                <a:latin typeface="Tw Cen MT Condensed"/>
              </a:rPr>
              <a:t>Interior: Coin detection &amp; Imaging 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/>
          </p:nvPr>
        </p:nvSpPr>
        <p:spPr>
          <a:xfrm>
            <a:off x="1024200" y="2286000"/>
            <a:ext cx="4654800" cy="40219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Wingdings" charset="2"/>
              <a:buChar char=""/>
            </a:pP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 </a:t>
            </a: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IR sensor detects coin insertion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Wingdings" charset="2"/>
              <a:buChar char=""/>
            </a:pP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 </a:t>
            </a: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Coin is held stationary for image capture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Wingdings" charset="2"/>
              <a:buChar char=""/>
            </a:pP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 </a:t>
            </a: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ESP32-CAM captures a clear top-down image 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Rectangl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3280" y="0"/>
            <a:ext cx="6104160" cy="68565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sp>
        <p:nvSpPr>
          <p:cNvPr id="270" name="Rectangle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5120" y="321840"/>
            <a:ext cx="3931200" cy="3660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pic>
        <p:nvPicPr>
          <p:cNvPr id="271" name="Picture 6" descr=""/>
          <p:cNvPicPr/>
          <p:nvPr/>
        </p:nvPicPr>
        <p:blipFill>
          <a:blip r:embed="rId1"/>
          <a:stretch/>
        </p:blipFill>
        <p:spPr>
          <a:xfrm>
            <a:off x="7295040" y="484200"/>
            <a:ext cx="2151360" cy="3336120"/>
          </a:xfrm>
          <a:prstGeom prst="rect">
            <a:avLst/>
          </a:prstGeom>
          <a:ln w="0">
            <a:noFill/>
          </a:ln>
        </p:spPr>
      </p:pic>
      <p:sp>
        <p:nvSpPr>
          <p:cNvPr id="272" name="Rectangle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509120" y="321840"/>
            <a:ext cx="1351080" cy="3666960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sp>
        <p:nvSpPr>
          <p:cNvPr id="273" name="Rectangle 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5120" y="4157280"/>
            <a:ext cx="2103480" cy="2310840"/>
          </a:xfrm>
          <a:prstGeom prst="rect">
            <a:avLst/>
          </a:prstGeom>
          <a:solidFill>
            <a:schemeClr val="accent2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sp>
        <p:nvSpPr>
          <p:cNvPr id="274" name="Rectangle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70600" y="4157280"/>
            <a:ext cx="3205440" cy="2310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pic>
        <p:nvPicPr>
          <p:cNvPr id="275" name="Picture 4" descr=""/>
          <p:cNvPicPr/>
          <p:nvPr/>
        </p:nvPicPr>
        <p:blipFill>
          <a:blip r:embed="rId2"/>
          <a:srcRect l="0" t="4281" r="-4" b="19027"/>
          <a:stretch/>
        </p:blipFill>
        <p:spPr>
          <a:xfrm>
            <a:off x="9303480" y="4321440"/>
            <a:ext cx="1939320" cy="1982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Rectangl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7600" y="4572000"/>
            <a:ext cx="7056720" cy="1962720"/>
          </a:xfrm>
          <a:prstGeom prst="rect">
            <a:avLst/>
          </a:prstGeom>
          <a:solidFill>
            <a:srgbClr val="3629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524160" y="4767120"/>
            <a:ext cx="6592680" cy="162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7222" lnSpcReduction="10000"/>
          </a:bodyPr>
          <a:p>
            <a:pPr indent="0" algn="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5000" spc="89" strike="noStrike" cap="all">
                <a:solidFill>
                  <a:srgbClr val="ffffff"/>
                </a:solidFill>
                <a:latin typeface="Tw Cen MT Condensed"/>
              </a:rPr>
              <a:t>Interior: holding gate &amp; interior ramp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8" name="Picture 5" descr=""/>
          <p:cNvPicPr/>
          <p:nvPr/>
        </p:nvPicPr>
        <p:blipFill>
          <a:blip r:embed="rId1"/>
          <a:srcRect l="0" t="13145" r="0" b="0"/>
          <a:stretch/>
        </p:blipFill>
        <p:spPr>
          <a:xfrm>
            <a:off x="327600" y="321840"/>
            <a:ext cx="7056720" cy="4105800"/>
          </a:xfrm>
          <a:prstGeom prst="rect">
            <a:avLst/>
          </a:prstGeom>
          <a:ln w="0">
            <a:noFill/>
          </a:ln>
        </p:spPr>
      </p:pic>
      <p:sp>
        <p:nvSpPr>
          <p:cNvPr id="279" name="Rectangl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34800" y="321840"/>
            <a:ext cx="4334040" cy="621324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/>
          </p:nvPr>
        </p:nvSpPr>
        <p:spPr>
          <a:xfrm>
            <a:off x="8029440" y="917640"/>
            <a:ext cx="3423240" cy="48510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ctr">
            <a:norm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Wingdings" charset="2"/>
              <a:buChar char=""/>
            </a:pPr>
            <a:r>
              <a:rPr b="0" lang="en-US" sz="2200" spc="-1" strike="noStrike">
                <a:solidFill>
                  <a:srgbClr val="ffffff"/>
                </a:solidFill>
                <a:latin typeface="Tw Cen MT"/>
              </a:rPr>
              <a:t> </a:t>
            </a:r>
            <a:r>
              <a:rPr b="0" lang="en-US" sz="2200" spc="-1" strike="noStrike">
                <a:solidFill>
                  <a:srgbClr val="ffffff"/>
                </a:solidFill>
                <a:latin typeface="Tw Cen MT"/>
              </a:rPr>
              <a:t>Motor-controlled holding gate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Wingdings" charset="2"/>
              <a:buChar char=""/>
            </a:pPr>
            <a:r>
              <a:rPr b="0" lang="en-US" sz="2200" spc="-1" strike="noStrike">
                <a:solidFill>
                  <a:srgbClr val="ffffff"/>
                </a:solidFill>
                <a:latin typeface="Tw Cen MT"/>
              </a:rPr>
              <a:t> </a:t>
            </a:r>
            <a:r>
              <a:rPr b="0" lang="en-US" sz="2200" spc="-1" strike="noStrike">
                <a:solidFill>
                  <a:srgbClr val="ffffff"/>
                </a:solidFill>
                <a:latin typeface="Tw Cen MT"/>
              </a:rPr>
              <a:t>Prevents motion blur during imaging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Wingdings" charset="2"/>
              <a:buChar char=""/>
            </a:pPr>
            <a:r>
              <a:rPr b="0" lang="en-US" sz="2200" spc="-1" strike="noStrike">
                <a:solidFill>
                  <a:srgbClr val="ffffff"/>
                </a:solidFill>
                <a:latin typeface="Tw Cen MT"/>
              </a:rPr>
              <a:t> </a:t>
            </a:r>
            <a:r>
              <a:rPr b="0" lang="en-US" sz="2200" spc="-1" strike="noStrike">
                <a:solidFill>
                  <a:srgbClr val="ffffff"/>
                </a:solidFill>
                <a:latin typeface="Tw Cen MT"/>
              </a:rPr>
              <a:t>Releasing coin only after classification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8560" cy="149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5000" spc="89" strike="noStrike" cap="all">
                <a:solidFill>
                  <a:schemeClr val="dk1">
                    <a:lumMod val="95000"/>
                    <a:lumOff val="5000"/>
                  </a:schemeClr>
                </a:solidFill>
                <a:latin typeface="Tw Cen MT Condensed"/>
              </a:rPr>
              <a:t>Interior →</a:t>
            </a:r>
            <a:r>
              <a:rPr b="0" lang="en-US" sz="5000" spc="89" strike="noStrike" cap="all">
                <a:solidFill>
                  <a:schemeClr val="dk1">
                    <a:lumMod val="95000"/>
                    <a:lumOff val="5000"/>
                  </a:schemeClr>
                </a:solidFill>
                <a:latin typeface="Wingdings"/>
              </a:rPr>
              <a:t> </a:t>
            </a:r>
            <a:r>
              <a:rPr b="0" lang="en-US" sz="5000" spc="89" strike="noStrike" cap="all">
                <a:solidFill>
                  <a:schemeClr val="dk1">
                    <a:lumMod val="95000"/>
                    <a:lumOff val="5000"/>
                  </a:schemeClr>
                </a:solidFill>
                <a:latin typeface="Tw Cen MT Condensed"/>
              </a:rPr>
              <a:t>Exterior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PlaceHolder 2"/>
          <p:cNvSpPr>
            <a:spLocks noGrp="1"/>
          </p:cNvSpPr>
          <p:nvPr>
            <p:ph/>
          </p:nvPr>
        </p:nvSpPr>
        <p:spPr>
          <a:xfrm>
            <a:off x="1024200" y="2286000"/>
            <a:ext cx="9718560" cy="40219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Wingdings" charset="2"/>
              <a:buChar char=""/>
            </a:pP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  </a:t>
            </a: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Coin released after CNN </a:t>
            </a: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prediction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Wingdings" charset="2"/>
              <a:buChar char=""/>
            </a:pP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  </a:t>
            </a: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Classification result </a:t>
            </a: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determines sorting path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Wingdings" charset="2"/>
              <a:buChar char=""/>
            </a:pP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  </a:t>
            </a: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Control signal sent to </a:t>
            </a: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exterior system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466960" cy="68565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3777480" cy="149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5000"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5000" spc="89" strike="noStrike" cap="all">
                <a:solidFill>
                  <a:srgbClr val="ffffff"/>
                </a:solidFill>
                <a:latin typeface="Tw Cen MT Condensed"/>
              </a:rPr>
              <a:t>EXTERIOR DESIGN OVERVIEW 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85" name="Straight Connector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761760" y="826200"/>
            <a:ext cx="1440" cy="915840"/>
          </a:xfrm>
          <a:prstGeom prst="straightConnector1">
            <a:avLst/>
          </a:prstGeom>
          <a:ln w="19050">
            <a:solidFill>
              <a:srgbClr val="ebf5d7"/>
            </a:solidFill>
            <a:round/>
          </a:ln>
        </p:spPr>
      </p:cxnSp>
      <p:sp>
        <p:nvSpPr>
          <p:cNvPr id="286" name="PlaceHolder 2"/>
          <p:cNvSpPr>
            <a:spLocks noGrp="1"/>
          </p:cNvSpPr>
          <p:nvPr>
            <p:ph/>
          </p:nvPr>
        </p:nvSpPr>
        <p:spPr>
          <a:xfrm>
            <a:off x="1024200" y="2286000"/>
            <a:ext cx="3790440" cy="39304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Courier New"/>
              <a:buChar char="o"/>
            </a:pPr>
            <a:r>
              <a:rPr b="0" lang="en-US" sz="2200" spc="-1" strike="noStrike">
                <a:solidFill>
                  <a:srgbClr val="ffffff"/>
                </a:solidFill>
                <a:latin typeface="Tw Cen MT"/>
              </a:rPr>
              <a:t>  </a:t>
            </a:r>
            <a:r>
              <a:rPr b="0" lang="en-US" sz="2200" spc="-1" strike="noStrike">
                <a:solidFill>
                  <a:srgbClr val="ffffff"/>
                </a:solidFill>
                <a:latin typeface="Tw Cen MT"/>
              </a:rPr>
              <a:t>Exterior ramp system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Courier New"/>
              <a:buChar char="o"/>
            </a:pPr>
            <a:r>
              <a:rPr b="0" lang="en-US" sz="2200" spc="-1" strike="noStrike">
                <a:solidFill>
                  <a:srgbClr val="ffffff"/>
                </a:solidFill>
                <a:latin typeface="Tw Cen MT"/>
              </a:rPr>
              <a:t> </a:t>
            </a:r>
            <a:r>
              <a:rPr b="0" lang="en-US" sz="2200" spc="-1" strike="noStrike">
                <a:solidFill>
                  <a:srgbClr val="ffffff"/>
                </a:solidFill>
                <a:latin typeface="Tw Cen MT"/>
              </a:rPr>
              <a:t>Servo-controlled gates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Courier New"/>
              <a:buChar char="o"/>
            </a:pPr>
            <a:r>
              <a:rPr b="0" lang="en-US" sz="2200" spc="-1" strike="noStrike">
                <a:solidFill>
                  <a:srgbClr val="ffffff"/>
                </a:solidFill>
                <a:latin typeface="Tw Cen MT"/>
              </a:rPr>
              <a:t> </a:t>
            </a:r>
            <a:r>
              <a:rPr b="0" lang="en-US" sz="2200" spc="-1" strike="noStrike">
                <a:solidFill>
                  <a:srgbClr val="ffffff"/>
                </a:solidFill>
                <a:latin typeface="Tw Cen MT"/>
              </a:rPr>
              <a:t>Multiple output slots for denominations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7" name="Picture 4" descr=""/>
          <p:cNvPicPr/>
          <p:nvPr/>
        </p:nvPicPr>
        <p:blipFill>
          <a:blip r:embed="rId1"/>
          <a:srcRect l="0" t="839" r="-4" b="16085"/>
          <a:stretch/>
        </p:blipFill>
        <p:spPr>
          <a:xfrm>
            <a:off x="6095880" y="640080"/>
            <a:ext cx="5454360" cy="5576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8560" cy="149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5000" spc="89" strike="noStrike" cap="all">
                <a:solidFill>
                  <a:schemeClr val="dk1">
                    <a:lumMod val="95000"/>
                    <a:lumOff val="5000"/>
                  </a:schemeClr>
                </a:solidFill>
                <a:latin typeface="Tw Cen MT Condensed"/>
              </a:rPr>
              <a:t>CALIBRATION &amp; RELIABILITY 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PlaceHolder 2"/>
          <p:cNvSpPr>
            <a:spLocks noGrp="1"/>
          </p:cNvSpPr>
          <p:nvPr>
            <p:ph/>
          </p:nvPr>
        </p:nvSpPr>
        <p:spPr>
          <a:xfrm>
            <a:off x="1024200" y="2286000"/>
            <a:ext cx="9718560" cy="40219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 </a:t>
            </a: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Motor tuning for precise angles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 </a:t>
            </a: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Tuning calibration between gates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 </a:t>
            </a: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Achieved ~90% correct physical sorting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8560" cy="149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5000" spc="89" strike="noStrike" cap="all">
                <a:solidFill>
                  <a:schemeClr val="dk1">
                    <a:lumMod val="95000"/>
                    <a:lumOff val="5000"/>
                  </a:schemeClr>
                </a:solidFill>
                <a:latin typeface="Tw Cen MT Condensed"/>
              </a:rPr>
              <a:t>Exterior: sorting mechanism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PlaceHolder 2"/>
          <p:cNvSpPr>
            <a:spLocks noGrp="1"/>
          </p:cNvSpPr>
          <p:nvPr>
            <p:ph/>
          </p:nvPr>
        </p:nvSpPr>
        <p:spPr>
          <a:xfrm>
            <a:off x="1024200" y="2286000"/>
            <a:ext cx="9718560" cy="40219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Wingdings" charset="2"/>
              <a:buChar char=""/>
            </a:pP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 </a:t>
            </a: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Servo positions correspond to coin classes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Wingdings" charset="2"/>
              <a:buChar char=""/>
            </a:pP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 </a:t>
            </a: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Ramp angle directs coin to correct slot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Wingdings" charset="2"/>
              <a:buChar char=""/>
            </a:pP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 </a:t>
            </a: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Gates open and reset after each cycle 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8560" cy="149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5000" spc="89" strike="noStrike" cap="all">
                <a:solidFill>
                  <a:schemeClr val="dk1">
                    <a:lumMod val="95000"/>
                    <a:lumOff val="5000"/>
                  </a:schemeClr>
                </a:solidFill>
                <a:latin typeface="Tw Cen MT Condensed"/>
              </a:rPr>
              <a:t>INTERIOR VS EXTERIOR 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/>
          </p:nvPr>
        </p:nvSpPr>
        <p:spPr>
          <a:xfrm>
            <a:off x="1024200" y="2179800"/>
            <a:ext cx="4753440" cy="821520"/>
          </a:xfrm>
          <a:prstGeom prst="rect">
            <a:avLst/>
          </a:prstGeom>
          <a:noFill/>
          <a:ln w="0">
            <a:noFill/>
          </a:ln>
        </p:spPr>
        <p:txBody>
          <a:bodyPr lIns="137160" rIns="13716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chemeClr val="accent1"/>
                </a:solidFill>
                <a:latin typeface="Tw Cen MT"/>
              </a:rPr>
              <a:t>Interior 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/>
          </p:nvPr>
        </p:nvSpPr>
        <p:spPr>
          <a:xfrm>
            <a:off x="1024200" y="2967840"/>
            <a:ext cx="4753440" cy="33400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Wingdings" charset="2"/>
              <a:buChar char=""/>
            </a:pP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IR sensor + camera 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Wingdings" charset="2"/>
              <a:buChar char=""/>
            </a:pP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Detection &amp; imaging 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Wingdings" charset="2"/>
              <a:buChar char=""/>
            </a:pP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 </a:t>
            </a: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Image stability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4"/>
          <p:cNvSpPr>
            <a:spLocks noGrp="1"/>
          </p:cNvSpPr>
          <p:nvPr>
            <p:ph/>
          </p:nvPr>
        </p:nvSpPr>
        <p:spPr>
          <a:xfrm>
            <a:off x="5990760" y="2179800"/>
            <a:ext cx="4753440" cy="821520"/>
          </a:xfrm>
          <a:prstGeom prst="rect">
            <a:avLst/>
          </a:prstGeom>
          <a:noFill/>
          <a:ln w="0">
            <a:noFill/>
          </a:ln>
        </p:spPr>
        <p:txBody>
          <a:bodyPr lIns="137160" rIns="13716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chemeClr val="accent1"/>
                </a:solidFill>
                <a:latin typeface="Tw Cen MT"/>
              </a:rPr>
              <a:t>Exterior 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PlaceHolder 5"/>
          <p:cNvSpPr>
            <a:spLocks noGrp="1"/>
          </p:cNvSpPr>
          <p:nvPr>
            <p:ph/>
          </p:nvPr>
        </p:nvSpPr>
        <p:spPr>
          <a:xfrm>
            <a:off x="5990760" y="2967840"/>
            <a:ext cx="4753440" cy="33400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Wingdings" charset="2"/>
              <a:buChar char=""/>
            </a:pP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Ramps &amp; gates 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Wingdings" charset="2"/>
              <a:buChar char=""/>
            </a:pP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  </a:t>
            </a: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Coin delivery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Wingdings" charset="2"/>
              <a:buChar char=""/>
            </a:pP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Physical sorting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8560" cy="149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5000" spc="89" strike="noStrike" cap="all">
                <a:solidFill>
                  <a:schemeClr val="dk1">
                    <a:lumMod val="95000"/>
                    <a:lumOff val="5000"/>
                  </a:schemeClr>
                </a:solidFill>
                <a:latin typeface="Tw Cen MT Condensed"/>
              </a:rPr>
              <a:t>Limitations &amp; future work  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2"/>
          <p:cNvSpPr>
            <a:spLocks noGrp="1"/>
          </p:cNvSpPr>
          <p:nvPr>
            <p:ph/>
          </p:nvPr>
        </p:nvSpPr>
        <p:spPr>
          <a:xfrm>
            <a:off x="1024200" y="2179800"/>
            <a:ext cx="4753440" cy="821520"/>
          </a:xfrm>
          <a:prstGeom prst="rect">
            <a:avLst/>
          </a:prstGeom>
          <a:noFill/>
          <a:ln w="0">
            <a:noFill/>
          </a:ln>
        </p:spPr>
        <p:txBody>
          <a:bodyPr lIns="137160" rIns="13716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chemeClr val="accent1"/>
                </a:solidFill>
                <a:latin typeface="Tw Cen MT"/>
              </a:rPr>
              <a:t>Limitations 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/>
          </p:nvPr>
        </p:nvSpPr>
        <p:spPr>
          <a:xfrm>
            <a:off x="1024200" y="2967840"/>
            <a:ext cx="4753440" cy="33400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Tw Cen MT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Tw Cen MT"/>
              </a:rPr>
              <a:t>Limited dataset size affects model generalization.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Tw Cen MT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Tw Cen MT"/>
              </a:rPr>
              <a:t>Sorting accuracy is influenced by mechanical stability.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Tw Cen MT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Tw Cen MT"/>
              </a:rPr>
              <a:t>Image classification is performed on a host machine , not on-device.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PlaceHolder 4"/>
          <p:cNvSpPr>
            <a:spLocks noGrp="1"/>
          </p:cNvSpPr>
          <p:nvPr>
            <p:ph/>
          </p:nvPr>
        </p:nvSpPr>
        <p:spPr>
          <a:xfrm>
            <a:off x="5990760" y="2179800"/>
            <a:ext cx="4753440" cy="821520"/>
          </a:xfrm>
          <a:prstGeom prst="rect">
            <a:avLst/>
          </a:prstGeom>
          <a:noFill/>
          <a:ln w="0">
            <a:noFill/>
          </a:ln>
        </p:spPr>
        <p:txBody>
          <a:bodyPr lIns="137160" rIns="13716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chemeClr val="accent1"/>
                </a:solidFill>
                <a:latin typeface="Tw Cen MT"/>
              </a:rPr>
              <a:t>Future Work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PlaceHolder 5"/>
          <p:cNvSpPr>
            <a:spLocks noGrp="1"/>
          </p:cNvSpPr>
          <p:nvPr>
            <p:ph/>
          </p:nvPr>
        </p:nvSpPr>
        <p:spPr>
          <a:xfrm>
            <a:off x="5990760" y="2967840"/>
            <a:ext cx="4753440" cy="33400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Wingdings" charset="2"/>
              <a:buChar char=""/>
            </a:pPr>
            <a:r>
              <a:rPr b="0" lang="en-US" sz="2400" spc="-1" strike="noStrike">
                <a:solidFill>
                  <a:schemeClr val="dk1"/>
                </a:solidFill>
                <a:latin typeface="Tw Cen MT"/>
              </a:rPr>
              <a:t> </a:t>
            </a:r>
            <a:r>
              <a:rPr b="0" lang="en-US" sz="2400" spc="-1" strike="noStrike">
                <a:solidFill>
                  <a:schemeClr val="dk1"/>
                </a:solidFill>
                <a:latin typeface="Tw Cen MT"/>
              </a:rPr>
              <a:t>Expand the dataset to improve robustness.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Wingdings" charset="2"/>
              <a:buChar char=""/>
            </a:pPr>
            <a:r>
              <a:rPr b="0" lang="en-US" sz="2400" spc="-1" strike="noStrike">
                <a:solidFill>
                  <a:schemeClr val="dk1"/>
                </a:solidFill>
                <a:latin typeface="Tw Cen MT"/>
              </a:rPr>
              <a:t> </a:t>
            </a:r>
            <a:r>
              <a:rPr b="0" lang="en-US" sz="2400" spc="-1" strike="noStrike">
                <a:solidFill>
                  <a:schemeClr val="dk1"/>
                </a:solidFill>
                <a:latin typeface="Tw Cen MT"/>
              </a:rPr>
              <a:t>Deploy the CNN directly on embedded hardware (edge AI).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Wingdings" charset="2"/>
              <a:buChar char=""/>
            </a:pPr>
            <a:r>
              <a:rPr b="0" lang="en-US" sz="2400" spc="-1" strike="noStrike">
                <a:solidFill>
                  <a:schemeClr val="dk1"/>
                </a:solidFill>
                <a:latin typeface="Tw Cen MT"/>
              </a:rPr>
              <a:t> </a:t>
            </a:r>
            <a:r>
              <a:rPr b="0" lang="en-US" sz="2400" spc="-1" strike="noStrike">
                <a:solidFill>
                  <a:schemeClr val="dk1"/>
                </a:solidFill>
                <a:latin typeface="Tw Cen MT"/>
              </a:rPr>
              <a:t>Improve mechanical design to reduce mis-sorting.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Wingdings" charset="2"/>
              <a:buChar char=""/>
            </a:pPr>
            <a:r>
              <a:rPr b="0" lang="en-US" sz="2400" spc="-1" strike="noStrike">
                <a:solidFill>
                  <a:schemeClr val="dk1"/>
                </a:solidFill>
                <a:latin typeface="Tw Cen MT"/>
              </a:rPr>
              <a:t> </a:t>
            </a:r>
            <a:r>
              <a:rPr b="0" lang="en-US" sz="2400" spc="-1" strike="noStrike">
                <a:solidFill>
                  <a:schemeClr val="dk1"/>
                </a:solidFill>
                <a:latin typeface="Tw Cen MT"/>
              </a:rPr>
              <a:t>Extend the system to support additional currencies.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4430520" cy="149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5000" spc="89" strike="noStrike" cap="all">
                <a:solidFill>
                  <a:schemeClr val="dk1">
                    <a:lumMod val="95000"/>
                    <a:lumOff val="5000"/>
                  </a:schemeClr>
                </a:solidFill>
                <a:latin typeface="Tw Cen MT Condensed"/>
              </a:rPr>
              <a:t>CONCLUSION 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PlaceHolder 2"/>
          <p:cNvSpPr>
            <a:spLocks noGrp="1"/>
          </p:cNvSpPr>
          <p:nvPr>
            <p:ph/>
          </p:nvPr>
        </p:nvSpPr>
        <p:spPr>
          <a:xfrm>
            <a:off x="1024200" y="2286000"/>
            <a:ext cx="4428000" cy="39304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fontScale="93333" lnSpcReduction="10000"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9cb38"/>
              </a:buClr>
              <a:buFont typeface="Tw Cen MT"/>
              <a:buChar char=" "/>
            </a:pPr>
            <a:r>
              <a:rPr b="0" lang="en-US" sz="2000" spc="-1" strike="noStrike">
                <a:solidFill>
                  <a:schemeClr val="dk1"/>
                </a:solidFill>
                <a:latin typeface="Tw Cen MT"/>
              </a:rPr>
              <a:t>This project developed an automated coin sorting system that integrates image processing, deep learning, and embedded system control. A convolutional neural network was used to accurately classify Jordanian coins, while sensor-triggered image capture and motor-driven mechanisms enabled reliable physical sorting. The results demonstrate the effectiveness of deep learning in real-world applications and highlight the successful integration of intelligent software with hardware systems.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4" name="Picture 2" descr="Finally Photos, Download The BEST Free Finally Stock Photos &amp; HD Images"/>
          <p:cNvPicPr/>
          <p:nvPr/>
        </p:nvPicPr>
        <p:blipFill>
          <a:blip r:embed="rId1"/>
          <a:stretch/>
        </p:blipFill>
        <p:spPr>
          <a:xfrm>
            <a:off x="6095880" y="1608120"/>
            <a:ext cx="5454360" cy="3640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_rels/theme1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2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3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4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5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6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7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8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9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0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1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theme1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99cb38"/>
      </a:accent1>
      <a:accent2>
        <a:srgbClr val="63a537"/>
      </a:accent2>
      <a:accent3>
        <a:srgbClr val="e6d024"/>
      </a:accent3>
      <a:accent4>
        <a:srgbClr val="cc9700"/>
      </a:accent4>
      <a:accent5>
        <a:srgbClr val="4eb3cf"/>
      </a:accent5>
      <a:accent6>
        <a:srgbClr val="378da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3000"/>
                <a:lumMod val="100000"/>
              </a:schemeClr>
            </a:gs>
            <a:gs pos="100000">
              <a:schemeClr val="phClr">
                <a:tint val="61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tint val="100000"/>
                <a:shade val="85000"/>
                <a:lumMod val="100000"/>
              </a:schemeClr>
            </a:gs>
            <a:gs pos="100000">
              <a:schemeClr val="phClr">
                <a:tint val="90000"/>
                <a:shade val="100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</a:schemeClr>
        </a:solidFill>
        <a:blipFill rotWithShape="1">
          <a:blip r:embed="rId1"/>
          <a:srcRect l="0" t="0" r="0" b="0"/>
          <a:tile tx="0" ty="0" sx="40000" sy="40000" flip="none" algn="tl"/>
        </a:blip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99cb38"/>
      </a:accent1>
      <a:accent2>
        <a:srgbClr val="63a537"/>
      </a:accent2>
      <a:accent3>
        <a:srgbClr val="e6d024"/>
      </a:accent3>
      <a:accent4>
        <a:srgbClr val="cc9700"/>
      </a:accent4>
      <a:accent5>
        <a:srgbClr val="4eb3cf"/>
      </a:accent5>
      <a:accent6>
        <a:srgbClr val="378da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3000"/>
                <a:lumMod val="100000"/>
              </a:schemeClr>
            </a:gs>
            <a:gs pos="100000">
              <a:schemeClr val="phClr">
                <a:tint val="61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tint val="100000"/>
                <a:shade val="85000"/>
                <a:lumMod val="100000"/>
              </a:schemeClr>
            </a:gs>
            <a:gs pos="100000">
              <a:schemeClr val="phClr">
                <a:tint val="90000"/>
                <a:shade val="100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</a:schemeClr>
        </a:solidFill>
        <a:blipFill rotWithShape="1">
          <a:blip r:embed="rId1"/>
          <a:srcRect l="0" t="0" r="0" b="0"/>
          <a:tile tx="0" ty="0" sx="40000" sy="40000" flip="none" algn="tl"/>
        </a:blip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99cb38"/>
      </a:accent1>
      <a:accent2>
        <a:srgbClr val="63a537"/>
      </a:accent2>
      <a:accent3>
        <a:srgbClr val="e6d024"/>
      </a:accent3>
      <a:accent4>
        <a:srgbClr val="cc9700"/>
      </a:accent4>
      <a:accent5>
        <a:srgbClr val="4eb3cf"/>
      </a:accent5>
      <a:accent6>
        <a:srgbClr val="378da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3000"/>
                <a:lumMod val="100000"/>
              </a:schemeClr>
            </a:gs>
            <a:gs pos="100000">
              <a:schemeClr val="phClr">
                <a:tint val="61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tint val="100000"/>
                <a:shade val="85000"/>
                <a:lumMod val="100000"/>
              </a:schemeClr>
            </a:gs>
            <a:gs pos="100000">
              <a:schemeClr val="phClr">
                <a:tint val="90000"/>
                <a:shade val="100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</a:schemeClr>
        </a:solidFill>
        <a:blipFill rotWithShape="1">
          <a:blip r:embed="rId1"/>
          <a:srcRect l="0" t="0" r="0" b="0"/>
          <a:tile tx="0" ty="0" sx="40000" sy="40000" flip="none" algn="tl"/>
        </a:blip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99cb38"/>
      </a:accent1>
      <a:accent2>
        <a:srgbClr val="63a537"/>
      </a:accent2>
      <a:accent3>
        <a:srgbClr val="e6d024"/>
      </a:accent3>
      <a:accent4>
        <a:srgbClr val="cc9700"/>
      </a:accent4>
      <a:accent5>
        <a:srgbClr val="4eb3cf"/>
      </a:accent5>
      <a:accent6>
        <a:srgbClr val="378da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3000"/>
                <a:lumMod val="100000"/>
              </a:schemeClr>
            </a:gs>
            <a:gs pos="100000">
              <a:schemeClr val="phClr">
                <a:tint val="61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tint val="100000"/>
                <a:shade val="85000"/>
                <a:lumMod val="100000"/>
              </a:schemeClr>
            </a:gs>
            <a:gs pos="100000">
              <a:schemeClr val="phClr">
                <a:tint val="90000"/>
                <a:shade val="100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</a:schemeClr>
        </a:solidFill>
        <a:blipFill rotWithShape="1">
          <a:blip r:embed="rId1"/>
          <a:srcRect l="0" t="0" r="0" b="0"/>
          <a:tile tx="0" ty="0" sx="40000" sy="40000" flip="none" algn="tl"/>
        </a:blip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99cb38"/>
      </a:accent1>
      <a:accent2>
        <a:srgbClr val="63a537"/>
      </a:accent2>
      <a:accent3>
        <a:srgbClr val="e6d024"/>
      </a:accent3>
      <a:accent4>
        <a:srgbClr val="cc9700"/>
      </a:accent4>
      <a:accent5>
        <a:srgbClr val="4eb3cf"/>
      </a:accent5>
      <a:accent6>
        <a:srgbClr val="378da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3000"/>
                <a:lumMod val="100000"/>
              </a:schemeClr>
            </a:gs>
            <a:gs pos="100000">
              <a:schemeClr val="phClr">
                <a:tint val="61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tint val="100000"/>
                <a:shade val="85000"/>
                <a:lumMod val="100000"/>
              </a:schemeClr>
            </a:gs>
            <a:gs pos="100000">
              <a:schemeClr val="phClr">
                <a:tint val="90000"/>
                <a:shade val="100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</a:schemeClr>
        </a:solidFill>
        <a:blipFill rotWithShape="1">
          <a:blip r:embed="rId1"/>
          <a:srcRect l="0" t="0" r="0" b="0"/>
          <a:tile tx="0" ty="0" sx="40000" sy="40000" flip="none" algn="tl"/>
        </a:blip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99cb38"/>
      </a:accent1>
      <a:accent2>
        <a:srgbClr val="63a537"/>
      </a:accent2>
      <a:accent3>
        <a:srgbClr val="e6d024"/>
      </a:accent3>
      <a:accent4>
        <a:srgbClr val="cc9700"/>
      </a:accent4>
      <a:accent5>
        <a:srgbClr val="4eb3cf"/>
      </a:accent5>
      <a:accent6>
        <a:srgbClr val="378da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3000"/>
                <a:lumMod val="100000"/>
              </a:schemeClr>
            </a:gs>
            <a:gs pos="100000">
              <a:schemeClr val="phClr">
                <a:tint val="61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tint val="100000"/>
                <a:shade val="85000"/>
                <a:lumMod val="100000"/>
              </a:schemeClr>
            </a:gs>
            <a:gs pos="100000">
              <a:schemeClr val="phClr">
                <a:tint val="90000"/>
                <a:shade val="100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</a:schemeClr>
        </a:solidFill>
        <a:blipFill rotWithShape="1">
          <a:blip r:embed="rId1"/>
          <a:srcRect l="0" t="0" r="0" b="0"/>
          <a:tile tx="0" ty="0" sx="40000" sy="40000" flip="none" algn="tl"/>
        </a:blip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99cb38"/>
      </a:accent1>
      <a:accent2>
        <a:srgbClr val="63a537"/>
      </a:accent2>
      <a:accent3>
        <a:srgbClr val="e6d024"/>
      </a:accent3>
      <a:accent4>
        <a:srgbClr val="cc9700"/>
      </a:accent4>
      <a:accent5>
        <a:srgbClr val="4eb3cf"/>
      </a:accent5>
      <a:accent6>
        <a:srgbClr val="378da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3000"/>
                <a:lumMod val="100000"/>
              </a:schemeClr>
            </a:gs>
            <a:gs pos="100000">
              <a:schemeClr val="phClr">
                <a:tint val="61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tint val="100000"/>
                <a:shade val="85000"/>
                <a:lumMod val="100000"/>
              </a:schemeClr>
            </a:gs>
            <a:gs pos="100000">
              <a:schemeClr val="phClr">
                <a:tint val="90000"/>
                <a:shade val="100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</a:schemeClr>
        </a:solidFill>
        <a:blipFill rotWithShape="1">
          <a:blip r:embed="rId1"/>
          <a:srcRect l="0" t="0" r="0" b="0"/>
          <a:tile tx="0" ty="0" sx="40000" sy="40000" flip="none" algn="tl"/>
        </a:blip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99cb38"/>
      </a:accent1>
      <a:accent2>
        <a:srgbClr val="63a537"/>
      </a:accent2>
      <a:accent3>
        <a:srgbClr val="e6d024"/>
      </a:accent3>
      <a:accent4>
        <a:srgbClr val="cc9700"/>
      </a:accent4>
      <a:accent5>
        <a:srgbClr val="4eb3cf"/>
      </a:accent5>
      <a:accent6>
        <a:srgbClr val="378da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3000"/>
                <a:lumMod val="100000"/>
              </a:schemeClr>
            </a:gs>
            <a:gs pos="100000">
              <a:schemeClr val="phClr">
                <a:tint val="61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tint val="100000"/>
                <a:shade val="85000"/>
                <a:lumMod val="100000"/>
              </a:schemeClr>
            </a:gs>
            <a:gs pos="100000">
              <a:schemeClr val="phClr">
                <a:tint val="90000"/>
                <a:shade val="100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</a:schemeClr>
        </a:solidFill>
        <a:blipFill rotWithShape="1">
          <a:blip r:embed="rId1"/>
          <a:srcRect l="0" t="0" r="0" b="0"/>
          <a:tile tx="0" ty="0" sx="40000" sy="40000" flip="none" algn="tl"/>
        </a:blip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99cb38"/>
      </a:accent1>
      <a:accent2>
        <a:srgbClr val="63a537"/>
      </a:accent2>
      <a:accent3>
        <a:srgbClr val="e6d024"/>
      </a:accent3>
      <a:accent4>
        <a:srgbClr val="cc9700"/>
      </a:accent4>
      <a:accent5>
        <a:srgbClr val="4eb3cf"/>
      </a:accent5>
      <a:accent6>
        <a:srgbClr val="378da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3000"/>
                <a:lumMod val="100000"/>
              </a:schemeClr>
            </a:gs>
            <a:gs pos="100000">
              <a:schemeClr val="phClr">
                <a:tint val="61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tint val="100000"/>
                <a:shade val="85000"/>
                <a:lumMod val="100000"/>
              </a:schemeClr>
            </a:gs>
            <a:gs pos="100000">
              <a:schemeClr val="phClr">
                <a:tint val="90000"/>
                <a:shade val="100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</a:schemeClr>
        </a:solidFill>
        <a:blipFill rotWithShape="1">
          <a:blip r:embed="rId1"/>
          <a:srcRect l="0" t="0" r="0" b="0"/>
          <a:tile tx="0" ty="0" sx="40000" sy="40000" flip="none" algn="tl"/>
        </a:blip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99cb38"/>
      </a:accent1>
      <a:accent2>
        <a:srgbClr val="63a537"/>
      </a:accent2>
      <a:accent3>
        <a:srgbClr val="e6d024"/>
      </a:accent3>
      <a:accent4>
        <a:srgbClr val="cc9700"/>
      </a:accent4>
      <a:accent5>
        <a:srgbClr val="4eb3cf"/>
      </a:accent5>
      <a:accent6>
        <a:srgbClr val="378da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3000"/>
                <a:lumMod val="100000"/>
              </a:schemeClr>
            </a:gs>
            <a:gs pos="100000">
              <a:schemeClr val="phClr">
                <a:tint val="61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tint val="100000"/>
                <a:shade val="85000"/>
                <a:lumMod val="100000"/>
              </a:schemeClr>
            </a:gs>
            <a:gs pos="100000">
              <a:schemeClr val="phClr">
                <a:tint val="90000"/>
                <a:shade val="100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</a:schemeClr>
        </a:solidFill>
        <a:blipFill rotWithShape="1">
          <a:blip r:embed="rId1"/>
          <a:srcRect l="0" t="0" r="0" b="0"/>
          <a:tile tx="0" ty="0" sx="40000" sy="40000" flip="none" algn="tl"/>
        </a:blip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99cb38"/>
      </a:accent1>
      <a:accent2>
        <a:srgbClr val="63a537"/>
      </a:accent2>
      <a:accent3>
        <a:srgbClr val="e6d024"/>
      </a:accent3>
      <a:accent4>
        <a:srgbClr val="cc9700"/>
      </a:accent4>
      <a:accent5>
        <a:srgbClr val="4eb3cf"/>
      </a:accent5>
      <a:accent6>
        <a:srgbClr val="378da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3000"/>
                <a:lumMod val="100000"/>
              </a:schemeClr>
            </a:gs>
            <a:gs pos="100000">
              <a:schemeClr val="phClr">
                <a:tint val="61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tint val="100000"/>
                <a:shade val="85000"/>
                <a:lumMod val="100000"/>
              </a:schemeClr>
            </a:gs>
            <a:gs pos="100000">
              <a:schemeClr val="phClr">
                <a:tint val="90000"/>
                <a:shade val="100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</a:schemeClr>
        </a:solidFill>
        <a:blipFill rotWithShape="1">
          <a:blip r:embed="rId1"/>
          <a:srcRect l="0" t="0" r="0" b="0"/>
          <a:tile tx="0" ty="0" sx="40000" sy="40000" flip="none" algn="tl"/>
        </a:blip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437</TotalTime>
  <Application>LibreOffice/24.2.7.2$Linux_X86_64 LibreOffice_project/420$Build-2</Application>
  <AppVersion>15.0000</AppVersion>
  <Words>1290</Words>
  <Paragraphs>165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2026-01-06T17:37:30Z</dcterms:created>
  <dc:creator>Alkhatib, Mahmoud | Student</dc:creator>
  <dc:description/>
  <dc:language>en-US</dc:language>
  <cp:lastModifiedBy/>
  <dcterms:modified xsi:type="dcterms:W3CDTF">2026-01-11T12:57:22Z</dcterms:modified>
  <cp:revision>13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Widescreen</vt:lpwstr>
  </property>
  <property fmtid="{D5CDD505-2E9C-101B-9397-08002B2CF9AE}" pid="4" name="Slides">
    <vt:i4>33</vt:i4>
  </property>
</Properties>
</file>